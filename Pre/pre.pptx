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大家好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我们这次的 </a:t>
            </a:r>
            <a:r>
              <a:rPr lang="en-US" altLang="zh-CN"/>
              <a:t>CS181 Final Project </a:t>
            </a:r>
            <a:r>
              <a:rPr lang="zh-CN" altLang="en-US"/>
              <a:t>主题是 </a:t>
            </a:r>
            <a:r>
              <a:rPr lang="en-US" altLang="zh-CN"/>
              <a:t>Fight the Landlord，</a:t>
            </a:r>
            <a:r>
              <a:rPr lang="zh-CN" altLang="en-US"/>
              <a:t>也就是斗地主 </a:t>
            </a:r>
            <a:r>
              <a:rPr lang="en-US" altLang="zh-CN"/>
              <a:t>AI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在这次展示中，我们会介绍为什么斗地主是一个具有代表性的 </a:t>
            </a:r>
            <a:r>
              <a:rPr lang="en-US" altLang="zh-CN"/>
              <a:t>AI </a:t>
            </a:r>
            <a:r>
              <a:rPr lang="zh-CN" altLang="en-US"/>
              <a:t>问题，以及如何利用不同的人工智能方法来解决这个游戏中的决策问题。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我们选择斗地主，是因为它同时包含了很多经典 </a:t>
            </a:r>
            <a:r>
              <a:rPr lang="en-US" altLang="zh-CN"/>
              <a:t>AI </a:t>
            </a:r>
            <a:r>
              <a:rPr lang="zh-CN" altLang="en-US"/>
              <a:t>问题。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首先，它是一个对抗性游戏，玩家需要不断和对手博弈。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其次，它还包含合作因素。因为两名农民需要合作对抗地主，因此不仅存在竞争，也存在团队协作。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第三，斗地主属于不完全信息游戏，玩家无法直接看到对手手牌。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最后，这个游戏的动作空间非常大，玩家可以打出大量不同的牌型组合。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因此，斗地主是一个非常适合研究 </a:t>
            </a:r>
            <a:r>
              <a:rPr lang="en-US" altLang="zh-CN"/>
              <a:t>AI </a:t>
            </a:r>
            <a:r>
              <a:rPr lang="zh-CN" altLang="en-US"/>
              <a:t>搜索、推理和学习算法的实验环境。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下面介绍我们的问题建模。</a:t>
            </a:r>
            <a:endParaRPr lang="en-US" altLang="zh-CN"/>
          </a:p>
          <a:p>
            <a:r>
              <a:rPr lang="zh-CN" altLang="en-US"/>
              <a:t>斗地主中共有 3 名玩家，包括 1 名地主和 2 名农民。</a:t>
            </a:r>
            <a:endParaRPr lang="en-US" altLang="zh-CN"/>
          </a:p>
          <a:p>
            <a:r>
              <a:rPr lang="zh-CN" altLang="en-US"/>
              <a:t>游戏使用 54 张牌，包括大小王。</a:t>
            </a:r>
            <a:endParaRPr lang="en-US" altLang="zh-CN"/>
          </a:p>
          <a:p>
            <a:r>
              <a:rPr lang="zh-CN" altLang="en-US"/>
              <a:t>目标很简单：哪一方先出完所有牌，哪一方获胜。</a:t>
            </a:r>
            <a:endParaRPr lang="en-US" altLang="zh-CN"/>
          </a:p>
          <a:p>
            <a:r>
              <a:rPr lang="zh-CN" altLang="en-US"/>
              <a:t>游戏状态主要包括：</a:t>
            </a:r>
            <a:endParaRPr lang="en-US" altLang="zh-CN"/>
          </a:p>
          <a:p>
            <a:r>
              <a:rPr lang="zh-CN" altLang="en-US"/>
              <a:t>玩家当前手牌、</a:t>
            </a:r>
            <a:endParaRPr lang="en-US" altLang="zh-CN"/>
          </a:p>
          <a:p>
            <a:r>
              <a:rPr lang="zh-CN" altLang="en-US"/>
              <a:t>公共出牌历史、</a:t>
            </a:r>
            <a:endParaRPr lang="en-US" altLang="zh-CN"/>
          </a:p>
          <a:p>
            <a:r>
              <a:rPr lang="zh-CN" altLang="en-US"/>
              <a:t>当前轮次，</a:t>
            </a:r>
            <a:endParaRPr lang="en-US" altLang="zh-CN"/>
          </a:p>
          <a:p>
            <a:r>
              <a:rPr lang="zh-CN" altLang="en-US"/>
              <a:t>以及各玩家剩余牌数。</a:t>
            </a:r>
            <a:endParaRPr lang="en-US" altLang="zh-CN"/>
          </a:p>
          <a:p>
            <a:r>
              <a:rPr lang="zh-CN" altLang="en-US"/>
              <a:t>动作空间则定义为：当前状态下所有合法的出牌组合。</a:t>
            </a:r>
            <a:endParaRPr lang="en-US" altLang="zh-CN"/>
          </a:p>
          <a:p>
            <a:r>
              <a:rPr lang="zh-CN" altLang="en-US"/>
              <a:t>由于手牌分布和行动组合数量巨大，因此整个游戏拥有非常庞大的状态空间。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这里介绍斗地主的一些基础规则。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牌的大小顺序为：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大王、小王、2、</a:t>
            </a:r>
            <a:r>
              <a:rPr lang="en-US" altLang="zh-CN"/>
              <a:t>A、K、Q、J、10，</a:t>
            </a:r>
            <a:r>
              <a:rPr lang="zh-CN" altLang="en-US"/>
              <a:t>一直到3。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与扑克不同的是，花色不会影响牌力大小。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游戏开始时，每位玩家先发 17 张牌。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剩余 3 张底牌 在叫地主结束后给地主。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因此地主最终拥有 20 张牌，单独作战；而两名农民组成同一阵营进行合作。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斗地主允许很多不同的牌型组合。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常见牌型包括：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单张、对子、三张。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也可以有更复杂的形式，例如：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三带一、三带二。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此外还有 顺子，即连续的单牌组合。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游戏中还存在特殊强力牌型。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例如 炸弹，即四张相同点数的牌。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以及 王炸，也就是大小王组合，它是游戏中最强的牌型。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这些丰富的组合结构进一步增加了游戏动作空间的复杂度。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下面</a:t>
            </a:r>
            <a:r>
              <a:rPr lang="zh-CN" altLang="en-US"/>
              <a:t>是斗地主的计分方式。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游戏开始时，玩家可以叫 1分、2分或3分。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最高叫分者成为地主。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叫分决定游戏的基础分数。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在游戏过程中，一些特殊牌型会提高最终得分。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每出现一个 炸弹，总分翻倍。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每出现一个 王炸，总分也会翻倍。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因此，最终得分等于：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基础分 × 所有倍数加成。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第一个方法是 </a:t>
            </a:r>
            <a:r>
              <a:rPr lang="en-US" altLang="zh-CN"/>
              <a:t>Adversarial Search，</a:t>
            </a:r>
            <a:r>
              <a:rPr lang="zh-CN" altLang="en-US"/>
              <a:t>对抗搜索。</a:t>
            </a:r>
            <a:endParaRPr lang="en-US" altLang="zh-CN"/>
          </a:p>
          <a:p>
            <a:r>
              <a:rPr lang="zh-CN" altLang="en-US"/>
              <a:t>我们把地主与农民视为两个相互对抗的阵营。</a:t>
            </a:r>
            <a:endParaRPr lang="en-US" altLang="zh-CN"/>
          </a:p>
          <a:p>
            <a:r>
              <a:rPr lang="zh-CN" altLang="en-US"/>
              <a:t>首先可以采用 </a:t>
            </a:r>
            <a:r>
              <a:rPr lang="en-US" altLang="zh-CN"/>
              <a:t>Minimax </a:t>
            </a:r>
            <a:r>
              <a:rPr lang="zh-CN" altLang="en-US"/>
              <a:t>算法，在双方博弈过程中寻找最优行动。</a:t>
            </a:r>
            <a:endParaRPr lang="en-US" altLang="zh-CN"/>
          </a:p>
          <a:p>
            <a:r>
              <a:rPr lang="zh-CN" altLang="en-US"/>
              <a:t>由于完整搜索代价太高，我们采用 深度限制搜索 来降低计算复杂度。</a:t>
            </a:r>
            <a:endParaRPr lang="en-US" altLang="zh-CN"/>
          </a:p>
          <a:p>
            <a:r>
              <a:rPr lang="zh-CN" altLang="en-US"/>
              <a:t>同时，我们设计 启发式状态评价函数。</a:t>
            </a:r>
            <a:endParaRPr lang="en-US" altLang="zh-CN"/>
          </a:p>
          <a:p>
            <a:r>
              <a:rPr lang="zh-CN" altLang="en-US"/>
              <a:t>评价指标包括：</a:t>
            </a:r>
            <a:endParaRPr lang="en-US" altLang="zh-CN"/>
          </a:p>
          <a:p>
            <a:r>
              <a:rPr lang="zh-CN" altLang="en-US"/>
              <a:t>手牌强度、</a:t>
            </a:r>
            <a:endParaRPr lang="en-US" altLang="zh-CN"/>
          </a:p>
          <a:p>
            <a:r>
              <a:rPr lang="zh-CN" altLang="en-US"/>
              <a:t>剩余牌数，</a:t>
            </a:r>
            <a:endParaRPr lang="en-US" altLang="zh-CN"/>
          </a:p>
          <a:p>
            <a:r>
              <a:rPr lang="zh-CN" altLang="en-US"/>
              <a:t>以及当前局面的控制能力。</a:t>
            </a:r>
            <a:endParaRPr lang="en-US" altLang="zh-CN"/>
          </a:p>
          <a:p>
            <a:r>
              <a:rPr lang="zh-CN" altLang="en-US"/>
              <a:t>由于斗地主存在隐藏信息问题，我们还可以进一步使用 </a:t>
            </a:r>
            <a:r>
              <a:rPr lang="en-US" altLang="zh-CN"/>
              <a:t>Expectimax，</a:t>
            </a:r>
            <a:r>
              <a:rPr lang="zh-CN" altLang="en-US"/>
              <a:t>通过概率方式建模未知手牌的不确定性。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第二种方法是 约束满足问题，也就是 </a:t>
            </a:r>
            <a:r>
              <a:rPr lang="en-US" altLang="zh-CN"/>
              <a:t>CSP。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这里我们利用 </a:t>
            </a:r>
            <a:r>
              <a:rPr lang="en-US" altLang="zh-CN"/>
              <a:t>CSP </a:t>
            </a:r>
            <a:r>
              <a:rPr lang="zh-CN" altLang="en-US"/>
              <a:t>来描述手牌的合法分组问题。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给定一手牌，我们希望找到所有满足规则的牌型划分方式。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在所有可行方案中，我们更偏向于：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更少的分组数量，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以及 更强的牌型组合。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这样能够帮助构建更加高效的出牌结构，从而提升决策质量。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由于斗地主属于不完全信息游戏，因此推理能力非常重要。</a:t>
            </a:r>
            <a:endParaRPr lang="zh-CN" altLang="en-US"/>
          </a:p>
          <a:p>
            <a:r>
              <a:rPr lang="zh-CN" altLang="en-US"/>
              <a:t>在 精确推理 中，我们会严格追踪所有已经打出的牌。</a:t>
            </a:r>
            <a:endParaRPr lang="zh-CN" altLang="en-US"/>
          </a:p>
          <a:p>
            <a:r>
              <a:rPr lang="zh-CN" altLang="en-US"/>
              <a:t>已知牌会从未知牌池中移除。</a:t>
            </a:r>
            <a:endParaRPr lang="zh-CN" altLang="en-US"/>
          </a:p>
          <a:p>
            <a:r>
              <a:rPr lang="zh-CN" altLang="en-US"/>
              <a:t>但随着状态空间增长，精确计算可能变得非常昂贵。</a:t>
            </a:r>
            <a:endParaRPr lang="zh-CN" altLang="en-US"/>
          </a:p>
          <a:p>
            <a:r>
              <a:rPr lang="zh-CN" altLang="en-US"/>
              <a:t>因此我们还考虑 近似推理方法。</a:t>
            </a:r>
            <a:endParaRPr lang="zh-CN" altLang="en-US"/>
          </a:p>
          <a:p>
            <a:r>
              <a:rPr lang="zh-CN" altLang="en-US"/>
              <a:t>通过采样等方式，我们估计对手可能持有的手牌。</a:t>
            </a:r>
            <a:endParaRPr lang="zh-CN" altLang="en-US"/>
          </a:p>
          <a:p>
            <a:r>
              <a:rPr lang="zh-CN" altLang="en-US"/>
              <a:t>同时，根据玩家的叫分行为和出牌行为，不断更新我们的概率判断。</a:t>
            </a:r>
            <a:endParaRPr lang="zh-CN" altLang="en-US"/>
          </a:p>
          <a:p>
            <a:r>
              <a:rPr lang="zh-CN" altLang="en-US"/>
              <a:t>这样 </a:t>
            </a:r>
            <a:r>
              <a:rPr lang="en-US" altLang="zh-CN"/>
              <a:t>AI </a:t>
            </a:r>
            <a:r>
              <a:rPr lang="zh-CN" altLang="en-US"/>
              <a:t>就能够在信息不完整条件下做出更合理的决策。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另一种建模框架是 马尔可夫决策过程，也就是 </a:t>
            </a:r>
            <a:r>
              <a:rPr lang="en-US" altLang="zh-CN"/>
              <a:t>MDP。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在 </a:t>
            </a:r>
            <a:r>
              <a:rPr lang="en-US" altLang="zh-CN"/>
              <a:t>MDP </a:t>
            </a:r>
            <a:r>
              <a:rPr lang="zh-CN" altLang="en-US"/>
              <a:t>中，我们定义：</a:t>
            </a:r>
            <a:endParaRPr lang="en-US" altLang="zh-CN"/>
          </a:p>
          <a:p>
            <a:r>
              <a:rPr lang="zh-CN" altLang="en-US"/>
              <a:t>状态、</a:t>
            </a:r>
            <a:endParaRPr lang="en-US" altLang="zh-CN"/>
          </a:p>
          <a:p>
            <a:r>
              <a:rPr lang="zh-CN" altLang="en-US"/>
              <a:t>动作、</a:t>
            </a:r>
            <a:endParaRPr lang="en-US" altLang="zh-CN"/>
          </a:p>
          <a:p>
            <a:r>
              <a:rPr lang="zh-CN" altLang="en-US"/>
              <a:t>状态转移，</a:t>
            </a:r>
            <a:endParaRPr lang="en-US" altLang="zh-CN"/>
          </a:p>
          <a:p>
            <a:r>
              <a:rPr lang="zh-CN" altLang="en-US"/>
              <a:t>以及奖励函数。</a:t>
            </a:r>
            <a:endParaRPr lang="en-US" altLang="zh-CN"/>
          </a:p>
          <a:p>
            <a:r>
              <a:rPr lang="zh-CN" altLang="en-US"/>
              <a:t>其中一个核心概念是 状态价值函数。</a:t>
            </a:r>
            <a:endParaRPr lang="en-US" altLang="zh-CN"/>
          </a:p>
          <a:p>
            <a:r>
              <a:rPr lang="zh-CN" altLang="en-US"/>
              <a:t>它用于衡量一个游戏状态的好坏程度。</a:t>
            </a:r>
            <a:endParaRPr lang="en-US" altLang="zh-CN"/>
          </a:p>
          <a:p>
            <a:r>
              <a:rPr lang="en-US" altLang="zh-CN"/>
              <a:t>AI </a:t>
            </a:r>
            <a:r>
              <a:rPr lang="zh-CN" altLang="en-US"/>
              <a:t>可以根据这些价值估计来选择行动，从而优化长期收益。</a:t>
            </a:r>
            <a:endParaRPr lang="en-US" altLang="zh-CN"/>
          </a:p>
          <a:p>
            <a:r>
              <a:rPr lang="zh-CN" altLang="en-US"/>
              <a:t>这种方法提供了一种比较系统的决策分析框架。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最后，我们考虑 强化学习方法。</a:t>
            </a:r>
            <a:endParaRPr lang="zh-CN" altLang="en-US"/>
          </a:p>
          <a:p>
            <a:r>
              <a:rPr lang="zh-CN" altLang="en-US"/>
              <a:t>利用 </a:t>
            </a:r>
            <a:r>
              <a:rPr lang="en-US" altLang="zh-CN"/>
              <a:t>Q-learning，AI </a:t>
            </a:r>
            <a:r>
              <a:rPr lang="zh-CN" altLang="en-US"/>
              <a:t>可以通过大量自我对局学习不同动作的价值。</a:t>
            </a:r>
            <a:endParaRPr lang="zh-CN" altLang="en-US"/>
          </a:p>
          <a:p>
            <a:r>
              <a:rPr lang="zh-CN" altLang="en-US"/>
              <a:t>为了平衡探索和利用，我们采用 </a:t>
            </a:r>
            <a:r>
              <a:rPr lang="en-US" altLang="zh-CN"/>
              <a:t>ε-greedy </a:t>
            </a:r>
            <a:r>
              <a:rPr lang="zh-CN" altLang="en-US"/>
              <a:t>策略。</a:t>
            </a:r>
            <a:endParaRPr lang="zh-CN" altLang="en-US"/>
          </a:p>
          <a:p>
            <a:r>
              <a:rPr lang="zh-CN" altLang="en-US"/>
              <a:t>此外，还可以采用 策略搜索方法，直接优化出牌策略本身。</a:t>
            </a:r>
            <a:endParaRPr lang="zh-CN" altLang="en-US"/>
          </a:p>
          <a:p>
            <a:r>
              <a:rPr lang="zh-CN" altLang="en-US"/>
              <a:t>强化学习的优势在于：</a:t>
            </a:r>
            <a:endParaRPr lang="zh-CN" altLang="en-US"/>
          </a:p>
          <a:p>
            <a:r>
              <a:rPr lang="en-US" altLang="zh-CN"/>
              <a:t>AI </a:t>
            </a:r>
            <a:r>
              <a:rPr lang="zh-CN" altLang="en-US"/>
              <a:t>不需要完全依赖人工设计规则，而是能够通过经验不断提升自身表现。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以上就是我们关于斗地主的项目介绍</a:t>
            </a:r>
            <a:endParaRPr lang="en-US" altLang="zh-CN"/>
          </a:p>
          <a:p>
            <a:r>
              <a:rPr lang="zh-CN" altLang="en-US"/>
              <a:t>感谢大家的聆听</a:t>
            </a:r>
            <a:endParaRPr lang="en-US" altLang="zh-CN"/>
          </a:p>
          <a:p>
            <a:r>
              <a:rPr lang="zh-CN" altLang="en-US"/>
              <a:t>欢迎提问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288823" y="3960893"/>
            <a:ext cx="11630660" cy="26835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0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44875" algn="l" rtl="0" eaLnBrk="0">
              <a:lnSpc>
                <a:spcPct val="83000"/>
              </a:lnSpc>
            </a:pPr>
            <a:r>
              <a:rPr sz="4600" b="1" kern="0" spc="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Fight</a:t>
            </a:r>
            <a:r>
              <a:rPr sz="4600" kern="0" spc="10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4600" b="1" kern="0" spc="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the</a:t>
            </a:r>
            <a:r>
              <a:rPr sz="4600" kern="0" spc="10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4600" b="1" kern="0" spc="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landlord</a:t>
            </a:r>
            <a:endParaRPr sz="4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909185" algn="l" rtl="0" eaLnBrk="0">
              <a:lnSpc>
                <a:spcPct val="88000"/>
              </a:lnSpc>
              <a:spcBef>
                <a:spcPts val="490"/>
              </a:spcBef>
            </a:pPr>
            <a:r>
              <a:rPr sz="1600" kern="0" spc="60" dirty="0">
                <a:solidFill>
                  <a:srgbClr val="52637A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CS181</a:t>
            </a:r>
            <a:r>
              <a:rPr sz="1600" kern="0" spc="190" dirty="0">
                <a:solidFill>
                  <a:srgbClr val="52637A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600" kern="0" spc="60" dirty="0">
                <a:solidFill>
                  <a:srgbClr val="52637A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600" kern="0" spc="170" dirty="0">
                <a:solidFill>
                  <a:srgbClr val="52637A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600" kern="0" spc="60" dirty="0">
                <a:solidFill>
                  <a:srgbClr val="52637A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6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4540250" algn="l" rtl="0" eaLnBrk="0">
              <a:lnSpc>
                <a:spcPct val="88000"/>
              </a:lnSpc>
              <a:spcBef>
                <a:spcPts val="645"/>
              </a:spcBef>
            </a:pPr>
            <a:r>
              <a:rPr sz="1600" kern="0" spc="50" dirty="0">
                <a:solidFill>
                  <a:srgbClr val="52637A">
                    <a:alpha val="100000"/>
                  </a:srgbClr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钱磊 张子豪 林子修 徐景骐</a:t>
            </a:r>
            <a:endParaRPr sz="1600" dirty="0">
              <a:latin typeface="PingFang SC" panose="020B0400000000000000" charset="-122"/>
              <a:ea typeface="PingFang SC" panose="020B0400000000000000" charset="-122"/>
              <a:cs typeface="PingFang SC" panose="020B0400000000000000" charset="-122"/>
            </a:endParaRPr>
          </a:p>
          <a:p>
            <a:pPr algn="l" rtl="0" eaLnBrk="0">
              <a:lnSpc>
                <a:spcPct val="10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8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14000"/>
              </a:lnSpc>
            </a:pPr>
            <a:endParaRPr sz="4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r" rtl="0" eaLnBrk="0">
              <a:lnSpc>
                <a:spcPct val="79000"/>
              </a:lnSpc>
              <a:spcBef>
                <a:spcPts val="5"/>
              </a:spcBef>
            </a:pPr>
            <a:r>
              <a:rPr sz="1300" kern="0" spc="5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5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5000625" y="1123950"/>
            <a:ext cx="2190750" cy="2190750"/>
          </a:xfrm>
          <a:prstGeom prst="rect">
            <a:avLst/>
          </a:prstGeom>
        </p:spPr>
      </p:pic>
      <p:sp>
        <p:nvSpPr>
          <p:cNvPr id="6" name="textbox 6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6572250" y="1685925"/>
            <a:ext cx="4914900" cy="4476750"/>
          </a:xfrm>
          <a:prstGeom prst="rect">
            <a:avLst/>
          </a:prstGeom>
        </p:spPr>
      </p:pic>
      <p:sp>
        <p:nvSpPr>
          <p:cNvPr id="10" name="textbox 10"/>
          <p:cNvSpPr/>
          <p:nvPr/>
        </p:nvSpPr>
        <p:spPr>
          <a:xfrm>
            <a:off x="987424" y="1837254"/>
            <a:ext cx="5172075" cy="40627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69000"/>
              </a:lnSpc>
            </a:pPr>
            <a:r>
              <a:rPr sz="2600" kern="0" spc="10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 is a competitive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2575" algn="l" rtl="0" eaLnBrk="0">
              <a:lnSpc>
                <a:spcPts val="3150"/>
              </a:lnSpc>
            </a:pP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game with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adversarial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</a:t>
            </a:r>
            <a:r>
              <a:rPr sz="2100" b="1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ecision-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290195" algn="l" rtl="0" eaLnBrk="0">
              <a:lnSpc>
                <a:spcPct val="85000"/>
              </a:lnSpc>
              <a:spcBef>
                <a:spcPts val="1010"/>
              </a:spcBef>
            </a:pPr>
            <a:r>
              <a:rPr sz="2100" b="1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making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07950" algn="l" rtl="0" eaLnBrk="0">
              <a:lnSpc>
                <a:spcPct val="85000"/>
              </a:lnSpc>
              <a:spcBef>
                <a:spcPts val="1520"/>
              </a:spcBef>
              <a:tabLst>
                <a:tab pos="29527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It also has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team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cooperat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ion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,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because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75590" algn="l" rtl="0" eaLnBrk="0">
              <a:lnSpc>
                <a:spcPts val="3160"/>
              </a:lnSpc>
            </a:pP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two farmers pl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ay against one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landlord.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2700" algn="l" rtl="0" eaLnBrk="0">
              <a:lnSpc>
                <a:spcPct val="69000"/>
              </a:lnSpc>
              <a:spcBef>
                <a:spcPts val="1520"/>
              </a:spcBef>
            </a:pPr>
            <a:r>
              <a:rPr sz="26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9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game has</a:t>
            </a:r>
            <a:r>
              <a:rPr sz="2100" kern="0" spc="1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imperfect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informatio</a:t>
            </a:r>
            <a:r>
              <a:rPr sz="2100" b="1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: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92100" algn="l" rtl="0" eaLnBrk="0">
              <a:lnSpc>
                <a:spcPts val="3150"/>
              </a:lnSpc>
            </a:pP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players ca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nnot see opponents' hands.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07950" algn="l" rtl="0" eaLnBrk="0">
              <a:lnSpc>
                <a:spcPct val="85000"/>
              </a:lnSpc>
              <a:spcBef>
                <a:spcPts val="1610"/>
              </a:spcBef>
              <a:tabLst>
                <a:tab pos="27495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large action space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mak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es it valuable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76860" algn="l" rtl="0" eaLnBrk="0">
              <a:lnSpc>
                <a:spcPts val="3150"/>
              </a:lnSpc>
            </a:pP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for studying AI search and le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arning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5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2100" algn="l" rtl="0" eaLnBrk="0">
              <a:lnSpc>
                <a:spcPct val="71000"/>
              </a:lnSpc>
            </a:pP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methods.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000124" y="4924425"/>
            <a:ext cx="95250" cy="9525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000124" y="3181350"/>
            <a:ext cx="95250" cy="95250"/>
          </a:xfrm>
          <a:prstGeom prst="rect">
            <a:avLst/>
          </a:prstGeom>
        </p:spPr>
      </p:pic>
      <p:sp>
        <p:nvSpPr>
          <p:cNvPr id="16" name="textbox 16"/>
          <p:cNvSpPr/>
          <p:nvPr/>
        </p:nvSpPr>
        <p:spPr>
          <a:xfrm>
            <a:off x="288823" y="6403797"/>
            <a:ext cx="11630660" cy="2406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8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2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8" name="textbox 18"/>
          <p:cNvSpPr/>
          <p:nvPr/>
        </p:nvSpPr>
        <p:spPr>
          <a:xfrm>
            <a:off x="732534" y="704260"/>
            <a:ext cx="2313940" cy="4318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4000"/>
              </a:lnSpc>
            </a:pPr>
            <a:r>
              <a:rPr sz="3600" b="1" kern="0" spc="9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Motivation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textbox 20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6572250" y="2143125"/>
            <a:ext cx="4914900" cy="4476750"/>
          </a:xfrm>
          <a:prstGeom prst="rect">
            <a:avLst/>
          </a:prstGeom>
        </p:spPr>
      </p:pic>
      <p:sp>
        <p:nvSpPr>
          <p:cNvPr id="24" name="textbox 24"/>
          <p:cNvSpPr/>
          <p:nvPr/>
        </p:nvSpPr>
        <p:spPr>
          <a:xfrm>
            <a:off x="987424" y="2227780"/>
            <a:ext cx="5172075" cy="38411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69000"/>
              </a:lnSpc>
            </a:pPr>
            <a:r>
              <a:rPr sz="2600" kern="0" spc="2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2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Players</a:t>
            </a:r>
            <a:r>
              <a:rPr sz="2100" b="1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: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3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players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:</a:t>
            </a:r>
            <a:r>
              <a:rPr sz="2100" kern="0" spc="2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landlord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and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2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76860" algn="l" rtl="0" eaLnBrk="0">
              <a:lnSpc>
                <a:spcPts val="2665"/>
              </a:lnSpc>
            </a:pP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farmers.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1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07950" algn="l" rtl="0" eaLnBrk="0">
              <a:lnSpc>
                <a:spcPct val="87000"/>
              </a:lnSpc>
              <a:spcBef>
                <a:spcPts val="640"/>
              </a:spcBef>
              <a:tabLst>
                <a:tab pos="2813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Cards: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54 cards,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including two Jokers.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2700" algn="l" rtl="0" eaLnBrk="0">
              <a:lnSpc>
                <a:spcPct val="70000"/>
              </a:lnSpc>
              <a:spcBef>
                <a:spcPts val="1465"/>
              </a:spcBef>
            </a:pPr>
            <a:r>
              <a:rPr sz="26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3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Goal: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 the first side to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all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2700" algn="l" rtl="0" eaLnBrk="0">
              <a:lnSpc>
                <a:spcPct val="69000"/>
              </a:lnSpc>
              <a:spcBef>
                <a:spcPts val="1595"/>
              </a:spcBef>
            </a:pPr>
            <a:r>
              <a:rPr sz="2600" kern="0" spc="7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State: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er hand,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public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history,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r" rtl="0" eaLnBrk="0">
              <a:lnSpc>
                <a:spcPct val="87000"/>
              </a:lnSpc>
              <a:spcBef>
                <a:spcPts val="980"/>
              </a:spcBef>
            </a:pP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current turn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, and remaining card counts.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2700" algn="l" rtl="0" eaLnBrk="0">
              <a:lnSpc>
                <a:spcPct val="69000"/>
              </a:lnSpc>
              <a:spcBef>
                <a:spcPts val="1485"/>
              </a:spcBef>
            </a:pPr>
            <a:r>
              <a:rPr sz="2600" kern="0" spc="9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7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Action: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Any legal card combination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that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2575" algn="l" rtl="0" eaLnBrk="0">
              <a:lnSpc>
                <a:spcPts val="3150"/>
              </a:lnSpc>
            </a:pP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can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played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1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ts val="2610"/>
              </a:lnSpc>
              <a:spcBef>
                <a:spcPts val="0"/>
              </a:spcBef>
            </a:pP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·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3300" b="1" kern="0" spc="0" baseline="300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Number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3300" b="1" kern="0" spc="0" baseline="300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of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3300" b="1" kern="0" spc="0" baseline="300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states</a:t>
            </a:r>
            <a:r>
              <a:rPr sz="3300" b="1" kern="0" spc="60" baseline="300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: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3300" kern="0" spc="0" baseline="30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Approximately</a:t>
            </a:r>
            <a:r>
              <a:rPr sz="2100" kern="0" spc="2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1083</a:t>
            </a:r>
            <a:endParaRPr sz="21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000124" y="3171825"/>
            <a:ext cx="95250" cy="95250"/>
          </a:xfrm>
          <a:prstGeom prst="rect">
            <a:avLst/>
          </a:prstGeom>
        </p:spPr>
      </p:pic>
      <p:sp>
        <p:nvSpPr>
          <p:cNvPr id="28" name="textbox 28"/>
          <p:cNvSpPr/>
          <p:nvPr/>
        </p:nvSpPr>
        <p:spPr>
          <a:xfrm>
            <a:off x="717507" y="675685"/>
            <a:ext cx="6423025" cy="122555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4000"/>
              </a:lnSpc>
            </a:pPr>
            <a:r>
              <a:rPr sz="3600" b="1" kern="0" spc="5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Settings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16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3335" algn="l" rtl="0" eaLnBrk="0">
              <a:lnSpc>
                <a:spcPct val="78000"/>
              </a:lnSpc>
              <a:spcBef>
                <a:spcPts val="0"/>
              </a:spcBef>
            </a:pPr>
            <a:r>
              <a:rPr sz="2300" b="1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Problem</a:t>
            </a:r>
            <a:r>
              <a:rPr sz="2300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Formulation</a:t>
            </a:r>
            <a:r>
              <a:rPr sz="2300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/</a:t>
            </a:r>
            <a:r>
              <a:rPr sz="2300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Environmen</a:t>
            </a:r>
            <a:r>
              <a:rPr sz="2300" b="1" kern="0" spc="3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</a:t>
            </a:r>
            <a:r>
              <a:rPr sz="2300" kern="0" spc="3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3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Definition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0" name="textbox 30"/>
          <p:cNvSpPr/>
          <p:nvPr/>
        </p:nvSpPr>
        <p:spPr>
          <a:xfrm>
            <a:off x="288823" y="6171130"/>
            <a:ext cx="11630660" cy="48514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990600" algn="l" rtl="0" eaLnBrk="0">
              <a:lnSpc>
                <a:spcPct val="79000"/>
              </a:lnSpc>
            </a:pP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possible states.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12700" algn="l" rtl="0" eaLnBrk="0">
              <a:lnSpc>
                <a:spcPct val="75000"/>
              </a:lnSpc>
              <a:spcBef>
                <a:spcPts val="15"/>
              </a:spcBef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3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2" name="textbox 32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4"/>
          <p:cNvSpPr/>
          <p:nvPr/>
        </p:nvSpPr>
        <p:spPr>
          <a:xfrm>
            <a:off x="711872" y="1234843"/>
            <a:ext cx="10698480" cy="45015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6000"/>
              </a:lnSpc>
            </a:pPr>
            <a:r>
              <a:rPr sz="3600" b="1" kern="0" spc="6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GameRules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40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9050" algn="l" rtl="0" eaLnBrk="0">
              <a:lnSpc>
                <a:spcPct val="76000"/>
              </a:lnSpc>
              <a:spcBef>
                <a:spcPts val="700"/>
              </a:spcBef>
            </a:pP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Basic</a:t>
            </a:r>
            <a:r>
              <a:rPr sz="2300" kern="0" spc="20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Rules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r" rtl="0" eaLnBrk="0">
              <a:lnSpc>
                <a:spcPct val="69000"/>
              </a:lnSpc>
              <a:spcBef>
                <a:spcPts val="1975"/>
              </a:spcBef>
            </a:pPr>
            <a:r>
              <a:rPr sz="26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3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Card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order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: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Big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Joker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Small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Joker</a:t>
            </a:r>
            <a:r>
              <a:rPr sz="2100" kern="0" spc="2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 2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 A</a:t>
            </a:r>
            <a:r>
              <a:rPr sz="2100" kern="0" spc="2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K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 Q</a:t>
            </a:r>
            <a:r>
              <a:rPr sz="2100" kern="0" spc="2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 J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24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10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9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8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7</a:t>
            </a:r>
            <a:r>
              <a:rPr sz="2100" kern="0" spc="2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3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6</a:t>
            </a:r>
            <a:r>
              <a:rPr sz="2100" kern="0" spc="2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</a:t>
            </a:r>
            <a:r>
              <a:rPr sz="2100" kern="0" spc="3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546735" algn="l" rtl="0" eaLnBrk="0">
              <a:lnSpc>
                <a:spcPct val="72000"/>
              </a:lnSpc>
              <a:spcBef>
                <a:spcPts val="1050"/>
              </a:spcBef>
            </a:pPr>
            <a:r>
              <a:rPr sz="2100" kern="0" spc="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4</a:t>
            </a:r>
            <a:r>
              <a:rPr sz="2100" kern="0" spc="3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&gt;</a:t>
            </a:r>
            <a:r>
              <a:rPr sz="2100" kern="0" spc="13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3.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7655" algn="l" rtl="0" eaLnBrk="0">
              <a:lnSpc>
                <a:spcPct val="70000"/>
              </a:lnSpc>
              <a:spcBef>
                <a:spcPts val="1775"/>
              </a:spcBef>
            </a:pPr>
            <a:r>
              <a:rPr sz="2600" kern="0" spc="9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74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Suits do not affect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strength.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7655" algn="l" rtl="0" eaLnBrk="0">
              <a:lnSpc>
                <a:spcPct val="69000"/>
              </a:lnSpc>
              <a:spcBef>
                <a:spcPts val="1595"/>
              </a:spcBef>
            </a:pPr>
            <a:r>
              <a:rPr sz="2600" kern="0" spc="22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2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Each</a:t>
            </a:r>
            <a:r>
              <a:rPr sz="2100" kern="0" spc="2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player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receives</a:t>
            </a:r>
            <a:r>
              <a:rPr sz="2100" kern="0" spc="13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b="1" kern="0" spc="2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17</a:t>
            </a:r>
            <a:r>
              <a:rPr sz="2100" kern="0" spc="2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cards</a:t>
            </a:r>
            <a:r>
              <a:rPr sz="2100" kern="0" spc="2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7655" algn="l" rtl="0" eaLnBrk="0">
              <a:lnSpc>
                <a:spcPct val="70000"/>
              </a:lnSpc>
              <a:spcBef>
                <a:spcPts val="1490"/>
              </a:spcBef>
            </a:pPr>
            <a:r>
              <a:rPr sz="2600" kern="0" spc="10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remain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ing </a:t>
            </a:r>
            <a:r>
              <a:rPr sz="2100" b="1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bottom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cards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are given to the landlord after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bidding.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87655" algn="l" rtl="0" eaLnBrk="0">
              <a:lnSpc>
                <a:spcPct val="69000"/>
              </a:lnSpc>
              <a:spcBef>
                <a:spcPts val="1520"/>
              </a:spcBef>
            </a:pPr>
            <a:r>
              <a:rPr sz="2600" kern="0" spc="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landlord plays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alone with</a:t>
            </a:r>
            <a:r>
              <a:rPr sz="2100" kern="0" spc="1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b="1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20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cards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8000"/>
              </a:lnSpc>
            </a:pPr>
            <a:endParaRPr sz="12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87655" algn="l" rtl="0" eaLnBrk="0">
              <a:lnSpc>
                <a:spcPct val="70000"/>
              </a:lnSpc>
            </a:pPr>
            <a:r>
              <a:rPr sz="2600" kern="0" spc="9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two farme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rs cooperate as one side.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6" name="textbox 36"/>
          <p:cNvSpPr/>
          <p:nvPr/>
        </p:nvSpPr>
        <p:spPr>
          <a:xfrm>
            <a:off x="288823" y="6406769"/>
            <a:ext cx="11630660" cy="2374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7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4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8" name="textbox 38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40"/>
          <p:cNvSpPr/>
          <p:nvPr/>
        </p:nvSpPr>
        <p:spPr>
          <a:xfrm>
            <a:off x="694580" y="968143"/>
            <a:ext cx="8632825" cy="50361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845" algn="l" rtl="0" eaLnBrk="0">
              <a:lnSpc>
                <a:spcPct val="76000"/>
              </a:lnSpc>
            </a:pPr>
            <a:r>
              <a:rPr sz="3600" b="1" kern="0" spc="6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GameRules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40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6000"/>
              </a:lnSpc>
              <a:spcBef>
                <a:spcPts val="700"/>
              </a:spcBef>
            </a:pPr>
            <a:r>
              <a:rPr sz="2300" b="1" kern="0" spc="8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Advanced</a:t>
            </a:r>
            <a:r>
              <a:rPr sz="2300" kern="0" spc="8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8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Comb</a:t>
            </a:r>
            <a:r>
              <a:rPr sz="2300" b="1" kern="0" spc="7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inations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305435" algn="l" rtl="0" eaLnBrk="0">
              <a:lnSpc>
                <a:spcPct val="69000"/>
              </a:lnSpc>
              <a:spcBef>
                <a:spcPts val="1960"/>
              </a:spcBef>
            </a:pPr>
            <a:r>
              <a:rPr sz="26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Single: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one card, such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as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7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400685" algn="l" rtl="0" eaLnBrk="0">
              <a:lnSpc>
                <a:spcPct val="77000"/>
              </a:lnSpc>
              <a:spcBef>
                <a:spcPts val="1505"/>
              </a:spcBef>
              <a:tabLst>
                <a:tab pos="5861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Pair: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two car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ds of the same rank, such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as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8-8.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05435" algn="l" rtl="0" eaLnBrk="0">
              <a:lnSpc>
                <a:spcPct val="69000"/>
              </a:lnSpc>
              <a:spcBef>
                <a:spcPts val="1740"/>
              </a:spcBef>
            </a:pPr>
            <a:r>
              <a:rPr sz="2600" kern="0" spc="7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Triple: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three cards of the same rank, such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as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5-5-5.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400685" algn="l" rtl="0" eaLnBrk="0">
              <a:lnSpc>
                <a:spcPct val="86000"/>
              </a:lnSpc>
              <a:spcBef>
                <a:spcPts val="1620"/>
              </a:spcBef>
              <a:tabLst>
                <a:tab pos="56769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Triple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with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one</a:t>
            </a:r>
            <a:r>
              <a:rPr sz="2100" b="1" kern="0" spc="1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: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three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cards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plus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one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extra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,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such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as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5-5-5</a:t>
            </a:r>
            <a:r>
              <a:rPr sz="2100" kern="0" spc="2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+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9.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05435" indent="95250" algn="l" rtl="0" eaLnBrk="0">
              <a:lnSpc>
                <a:spcPct val="106000"/>
              </a:lnSpc>
              <a:spcBef>
                <a:spcPts val="1485"/>
              </a:spcBef>
              <a:tabLst>
                <a:tab pos="56769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Triple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with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pair</a:t>
            </a:r>
            <a:r>
              <a:rPr sz="2100" b="1" kern="0" spc="1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: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three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cards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plus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one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pair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,</a:t>
            </a:r>
            <a:r>
              <a:rPr sz="2100" kern="0" spc="14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such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as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5-5-5</a:t>
            </a:r>
            <a:r>
              <a:rPr sz="2100" kern="0" spc="2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+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9-9.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</a:t>
            </a:r>
            <a:r>
              <a:rPr sz="2600" kern="0" spc="9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6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b="1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Straight: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consecutive single cards, such as 3-4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-5-6-7.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400685" algn="l" rtl="0" eaLnBrk="0">
              <a:lnSpc>
                <a:spcPct val="76000"/>
              </a:lnSpc>
              <a:spcBef>
                <a:spcPts val="1360"/>
              </a:spcBef>
              <a:tabLst>
                <a:tab pos="5861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Bomb: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four cards of the sam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 rank.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4000"/>
              </a:lnSpc>
            </a:pPr>
            <a:endParaRPr sz="1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5435" algn="l" rtl="0" eaLnBrk="0">
              <a:lnSpc>
                <a:spcPct val="69000"/>
              </a:lnSpc>
              <a:spcBef>
                <a:spcPts val="0"/>
              </a:spcBef>
            </a:pPr>
            <a:r>
              <a:rPr sz="2600" kern="0" spc="6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Rocket: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Big Joker</a:t>
            </a:r>
            <a:r>
              <a:rPr sz="2100" kern="0" spc="2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+ Small Joker.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5305425"/>
            <a:ext cx="95250" cy="95250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4371975"/>
            <a:ext cx="95250" cy="9525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3905250"/>
            <a:ext cx="95250" cy="95250"/>
          </a:xfrm>
          <a:prstGeom prst="rect">
            <a:avLst/>
          </a:prstGeom>
        </p:spPr>
      </p:pic>
      <p:pic>
        <p:nvPicPr>
          <p:cNvPr id="48" name="picture 4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2962275"/>
            <a:ext cx="95250" cy="95250"/>
          </a:xfrm>
          <a:prstGeom prst="rect">
            <a:avLst/>
          </a:prstGeom>
        </p:spPr>
      </p:pic>
      <p:sp>
        <p:nvSpPr>
          <p:cNvPr id="50" name="textbox 50"/>
          <p:cNvSpPr/>
          <p:nvPr/>
        </p:nvSpPr>
        <p:spPr>
          <a:xfrm>
            <a:off x="288823" y="6406769"/>
            <a:ext cx="11630660" cy="2374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7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5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52" name="textbox 52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box 54"/>
          <p:cNvSpPr/>
          <p:nvPr/>
        </p:nvSpPr>
        <p:spPr>
          <a:xfrm>
            <a:off x="708557" y="1434868"/>
            <a:ext cx="6119495" cy="40925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76000"/>
              </a:lnSpc>
            </a:pPr>
            <a:r>
              <a:rPr sz="3600" b="1" kern="0" spc="6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GameRules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4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4000"/>
              </a:lnSpc>
              <a:spcBef>
                <a:spcPts val="695"/>
              </a:spcBef>
            </a:pPr>
            <a:r>
              <a:rPr sz="2300" b="1" kern="0" spc="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Scores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r" rtl="0" eaLnBrk="0">
              <a:lnSpc>
                <a:spcPct val="69000"/>
              </a:lnSpc>
              <a:spcBef>
                <a:spcPts val="1935"/>
              </a:spcBef>
            </a:pPr>
            <a:r>
              <a:rPr sz="2600" kern="0" spc="2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59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At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beginning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,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players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bid</a:t>
            </a:r>
            <a:r>
              <a:rPr sz="2100" kern="0" spc="14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b="1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1,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2,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or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2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points</a:t>
            </a:r>
            <a:r>
              <a:rPr sz="2100" kern="0" spc="2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91465" algn="l" rtl="0" eaLnBrk="0">
              <a:lnSpc>
                <a:spcPts val="3675"/>
              </a:lnSpc>
            </a:pPr>
            <a:r>
              <a:rPr sz="2600" kern="0" spc="10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65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highest bidder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becomes the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landlord.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86715" algn="l" rtl="0" eaLnBrk="0">
              <a:lnSpc>
                <a:spcPct val="71000"/>
              </a:lnSpc>
              <a:spcBef>
                <a:spcPts val="1610"/>
              </a:spcBef>
              <a:tabLst>
                <a:tab pos="55372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The bid</a:t>
            </a:r>
            <a:r>
              <a:rPr sz="2100" kern="0" spc="1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is the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base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score.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1465" algn="l" rtl="0" eaLnBrk="0">
              <a:lnSpc>
                <a:spcPct val="85000"/>
              </a:lnSpc>
              <a:spcBef>
                <a:spcPts val="635"/>
              </a:spcBef>
            </a:pP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Each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bomb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doubles the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sco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re: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91465" algn="l" rtl="0" eaLnBrk="0">
              <a:lnSpc>
                <a:spcPct val="76000"/>
              </a:lnSpc>
              <a:spcBef>
                <a:spcPts val="1545"/>
              </a:spcBef>
            </a:pPr>
            <a:r>
              <a:rPr sz="1400" kern="0" spc="-660" dirty="0">
                <a:solidFill>
                  <a:srgbClr val="172033">
                    <a:alpha val="100000"/>
                  </a:srgbClr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●</a:t>
            </a:r>
            <a:r>
              <a:rPr sz="1400" kern="0" spc="180" dirty="0">
                <a:solidFill>
                  <a:srgbClr val="172033">
                    <a:alpha val="100000"/>
                  </a:srgbClr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 rocket also doubles the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score:    </a:t>
            </a:r>
            <a:r>
              <a:rPr sz="1400" kern="0" spc="8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1400" kern="0" spc="-13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5000"/>
              </a:lnSpc>
            </a:pPr>
            <a:endParaRPr sz="14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1465" algn="l" rtl="0" eaLnBrk="0">
              <a:lnSpc>
                <a:spcPct val="69000"/>
              </a:lnSpc>
            </a:pPr>
            <a:r>
              <a:rPr sz="2600" kern="0" spc="8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2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 score</a:t>
            </a:r>
            <a:r>
              <a:rPr sz="2100" kern="0" spc="2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= base scor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all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multipliers.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pic>
        <p:nvPicPr>
          <p:cNvPr id="56" name="picture 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4306251" y="5295900"/>
            <a:ext cx="150777" cy="150465"/>
          </a:xfrm>
          <a:prstGeom prst="rect">
            <a:avLst/>
          </a:prstGeom>
        </p:spPr>
      </p:pic>
      <p:pic>
        <p:nvPicPr>
          <p:cNvPr id="58" name="picture 5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5258169" y="4826707"/>
            <a:ext cx="150855" cy="150542"/>
          </a:xfrm>
          <a:prstGeom prst="rect">
            <a:avLst/>
          </a:prstGeom>
        </p:spPr>
      </p:pic>
      <p:pic>
        <p:nvPicPr>
          <p:cNvPr id="60" name="picture 6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5030573" y="4359982"/>
            <a:ext cx="150855" cy="150542"/>
          </a:xfrm>
          <a:prstGeom prst="rect">
            <a:avLst/>
          </a:prstGeom>
        </p:spPr>
      </p:pic>
      <p:pic>
        <p:nvPicPr>
          <p:cNvPr id="62" name="picture 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1000124" y="3905250"/>
            <a:ext cx="95250" cy="95250"/>
          </a:xfrm>
          <a:prstGeom prst="rect">
            <a:avLst/>
          </a:prstGeom>
        </p:spPr>
      </p:pic>
      <p:sp>
        <p:nvSpPr>
          <p:cNvPr id="64" name="textbox 64"/>
          <p:cNvSpPr/>
          <p:nvPr/>
        </p:nvSpPr>
        <p:spPr>
          <a:xfrm>
            <a:off x="288823" y="6403797"/>
            <a:ext cx="11630660" cy="2406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8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6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66" name="textbox 66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8"/>
          <p:cNvSpPr/>
          <p:nvPr/>
        </p:nvSpPr>
        <p:spPr>
          <a:xfrm>
            <a:off x="704303" y="1111018"/>
            <a:ext cx="8660765" cy="47529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0640" algn="l" rtl="0" eaLnBrk="0">
              <a:lnSpc>
                <a:spcPct val="84000"/>
              </a:lnSpc>
            </a:pPr>
            <a:r>
              <a:rPr sz="3600" b="1" kern="0" spc="8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Implementmethods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3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4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6000"/>
              </a:lnSpc>
              <a:spcBef>
                <a:spcPts val="690"/>
              </a:spcBef>
            </a:pP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1.</a:t>
            </a:r>
            <a:r>
              <a:rPr sz="2300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Adversarial</a:t>
            </a:r>
            <a:r>
              <a:rPr sz="2300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</a:t>
            </a:r>
            <a:r>
              <a:rPr sz="2300" b="1" kern="0" spc="-1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earch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1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90525" algn="l" rtl="0" eaLnBrk="0">
              <a:lnSpc>
                <a:spcPct val="85000"/>
              </a:lnSpc>
              <a:spcBef>
                <a:spcPts val="635"/>
              </a:spcBef>
              <a:tabLst>
                <a:tab pos="57658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Minimax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Algorit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hm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48055" algn="l" rtl="0" eaLnBrk="0">
              <a:lnSpc>
                <a:spcPct val="87000"/>
              </a:lnSpc>
              <a:spcBef>
                <a:spcPts val="995"/>
              </a:spcBef>
              <a:tabLst>
                <a:tab pos="113030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Model the landlord and farmers as two opposing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sides.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90525" algn="l" rtl="0" eaLnBrk="0">
              <a:lnSpc>
                <a:spcPct val="85000"/>
              </a:lnSpc>
              <a:spcBef>
                <a:spcPts val="1560"/>
              </a:spcBef>
              <a:tabLst>
                <a:tab pos="57658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Depth-limited</a:t>
            </a:r>
            <a:r>
              <a:rPr sz="2100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Ad</a:t>
            </a:r>
            <a:r>
              <a:rPr sz="2100" b="1" kern="0" spc="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versarial</a:t>
            </a:r>
            <a:r>
              <a:rPr sz="2100" kern="0" spc="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Search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48055" algn="l" rtl="0" eaLnBrk="0">
              <a:lnSpc>
                <a:spcPct val="86000"/>
              </a:lnSpc>
              <a:spcBef>
                <a:spcPts val="1020"/>
              </a:spcBef>
              <a:tabLst>
                <a:tab pos="113030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Limit search depth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to reduce computation.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90525" algn="l" rtl="0" eaLnBrk="0">
              <a:lnSpc>
                <a:spcPct val="76000"/>
              </a:lnSpc>
              <a:spcBef>
                <a:spcPts val="1495"/>
              </a:spcBef>
              <a:tabLst>
                <a:tab pos="57658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Heuristic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State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Evaluation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295275" indent="652145" algn="l" rtl="0" eaLnBrk="0">
              <a:lnSpc>
                <a:spcPct val="117000"/>
              </a:lnSpc>
              <a:spcBef>
                <a:spcPts val="1240"/>
              </a:spcBef>
              <a:tabLst>
                <a:tab pos="113030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Evaluate hand strength, remaining ca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rds, and possible control.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000" kern="0" spc="4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000" kern="0" spc="17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b="1" kern="0" spc="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Expectimax</a:t>
            </a:r>
            <a:r>
              <a:rPr sz="2100" kern="0" spc="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Algorit</a:t>
            </a:r>
            <a:r>
              <a:rPr sz="2100" b="1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hm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09000"/>
              </a:lnSpc>
            </a:pPr>
            <a:endParaRPr sz="7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948055" algn="l" rtl="0" eaLnBrk="0">
              <a:lnSpc>
                <a:spcPct val="87000"/>
              </a:lnSpc>
              <a:spcBef>
                <a:spcPts val="5"/>
              </a:spcBef>
              <a:tabLst>
                <a:tab pos="111760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Consider uncertainty from hidden opponen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 cards.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70" name="path 70"/>
          <p:cNvSpPr/>
          <p:nvPr/>
        </p:nvSpPr>
        <p:spPr>
          <a:xfrm>
            <a:off x="1547812" y="563403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72" name="path 72"/>
          <p:cNvSpPr/>
          <p:nvPr/>
        </p:nvSpPr>
        <p:spPr>
          <a:xfrm>
            <a:off x="1547812" y="476726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74" name="picture 7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4371975"/>
            <a:ext cx="95250" cy="95250"/>
          </a:xfrm>
          <a:prstGeom prst="rect">
            <a:avLst/>
          </a:prstGeom>
        </p:spPr>
      </p:pic>
      <p:sp>
        <p:nvSpPr>
          <p:cNvPr id="76" name="path 76"/>
          <p:cNvSpPr/>
          <p:nvPr/>
        </p:nvSpPr>
        <p:spPr>
          <a:xfrm>
            <a:off x="1547812" y="390048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78" name="picture 7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3505200"/>
            <a:ext cx="95250" cy="95250"/>
          </a:xfrm>
          <a:prstGeom prst="rect">
            <a:avLst/>
          </a:prstGeom>
        </p:spPr>
      </p:pic>
      <p:sp>
        <p:nvSpPr>
          <p:cNvPr id="80" name="path 80"/>
          <p:cNvSpPr/>
          <p:nvPr/>
        </p:nvSpPr>
        <p:spPr>
          <a:xfrm>
            <a:off x="1547812" y="302418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82" name="picture 8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2628900"/>
            <a:ext cx="95250" cy="95250"/>
          </a:xfrm>
          <a:prstGeom prst="rect">
            <a:avLst/>
          </a:prstGeom>
        </p:spPr>
      </p:pic>
      <p:sp>
        <p:nvSpPr>
          <p:cNvPr id="84" name="textbox 84"/>
          <p:cNvSpPr/>
          <p:nvPr/>
        </p:nvSpPr>
        <p:spPr>
          <a:xfrm>
            <a:off x="288823" y="6406769"/>
            <a:ext cx="11630660" cy="2374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7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7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86" name="textbox 86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88"/>
          <p:cNvSpPr/>
          <p:nvPr/>
        </p:nvSpPr>
        <p:spPr>
          <a:xfrm>
            <a:off x="706734" y="1911118"/>
            <a:ext cx="8722995" cy="31502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8100" algn="l" rtl="0" eaLnBrk="0">
              <a:lnSpc>
                <a:spcPct val="84000"/>
              </a:lnSpc>
            </a:pPr>
            <a:r>
              <a:rPr sz="3600" b="1" kern="0" spc="8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Implementmethods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7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4000"/>
              </a:lnSpc>
              <a:spcBef>
                <a:spcPts val="700"/>
              </a:spcBef>
            </a:pPr>
            <a:r>
              <a:rPr sz="2300" b="1" kern="0" spc="1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2.</a:t>
            </a:r>
            <a:r>
              <a:rPr sz="2300" kern="0" spc="1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CSP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r" rtl="0" eaLnBrk="0">
              <a:lnSpc>
                <a:spcPct val="69000"/>
              </a:lnSpc>
              <a:spcBef>
                <a:spcPts val="1935"/>
              </a:spcBef>
            </a:pPr>
            <a:r>
              <a:rPr sz="2600" kern="0" spc="10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3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Use Constraint Satisfaction Problems to model legal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 grouping.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93370" algn="l" rtl="0" eaLnBrk="0">
              <a:lnSpc>
                <a:spcPts val="3750"/>
              </a:lnSpc>
            </a:pPr>
            <a:r>
              <a:rPr sz="2600" kern="0" spc="1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Find possible partitions of a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hand</a:t>
            </a:r>
            <a:r>
              <a:rPr sz="2100" kern="0" spc="16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into</a:t>
            </a:r>
            <a:r>
              <a:rPr sz="2100" kern="0" spc="1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legal combinations.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293370" algn="l" rtl="0" eaLnBrk="0">
              <a:lnSpc>
                <a:spcPct val="70000"/>
              </a:lnSpc>
              <a:spcBef>
                <a:spcPts val="1505"/>
              </a:spcBef>
            </a:pPr>
            <a:r>
              <a:rPr sz="2600" kern="0" spc="10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Prefer fewer groups and stro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nger combinations.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3000"/>
              </a:lnSpc>
            </a:pPr>
            <a:endParaRPr sz="12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7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3370" algn="l" rtl="0" eaLnBrk="0">
              <a:lnSpc>
                <a:spcPct val="70000"/>
              </a:lnSpc>
            </a:pPr>
            <a:r>
              <a:rPr sz="2600" kern="0" spc="9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Help the agent choose efficient card struct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ures.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288823" y="6403797"/>
            <a:ext cx="11630660" cy="2406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8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8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92" name="textbox 92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94"/>
          <p:cNvSpPr/>
          <p:nvPr/>
        </p:nvSpPr>
        <p:spPr>
          <a:xfrm>
            <a:off x="710380" y="1272943"/>
            <a:ext cx="7645400" cy="44291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" algn="l" rtl="0" eaLnBrk="0">
              <a:lnSpc>
                <a:spcPct val="84000"/>
              </a:lnSpc>
            </a:pPr>
            <a:r>
              <a:rPr sz="3600" b="1" kern="0" spc="8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Implementmethods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5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6000"/>
              </a:lnSpc>
              <a:spcBef>
                <a:spcPts val="695"/>
              </a:spcBef>
            </a:pPr>
            <a:r>
              <a:rPr sz="2300" b="1" kern="0" spc="-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3.</a:t>
            </a:r>
            <a:r>
              <a:rPr sz="2300" kern="0" spc="25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-4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Inference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10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84810" algn="l" rtl="0" eaLnBrk="0">
              <a:lnSpc>
                <a:spcPct val="76000"/>
              </a:lnSpc>
              <a:spcBef>
                <a:spcPts val="640"/>
              </a:spcBef>
              <a:tabLst>
                <a:tab pos="57023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-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Exact</a:t>
            </a:r>
            <a:r>
              <a:rPr sz="2100" kern="0" spc="1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-2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Infe</a:t>
            </a:r>
            <a:r>
              <a:rPr sz="2100" b="1" kern="0" spc="-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rence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41705" algn="l" rtl="0" eaLnBrk="0">
              <a:lnSpc>
                <a:spcPct val="87000"/>
              </a:lnSpc>
              <a:spcBef>
                <a:spcPts val="1255"/>
              </a:spcBef>
              <a:tabLst>
                <a:tab pos="110426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Track all played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cards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exactly.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941705" algn="l" rtl="0" eaLnBrk="0">
              <a:lnSpc>
                <a:spcPct val="87000"/>
              </a:lnSpc>
              <a:spcBef>
                <a:spcPts val="1470"/>
              </a:spcBef>
              <a:tabLst>
                <a:tab pos="112458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Remove known cards from the unknown card</a:t>
            </a:r>
            <a:r>
              <a:rPr sz="2100" kern="0" spc="2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pool.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84810" algn="l" rtl="0" eaLnBrk="0">
              <a:lnSpc>
                <a:spcPct val="86000"/>
              </a:lnSpc>
              <a:spcBef>
                <a:spcPts val="1475"/>
              </a:spcBef>
              <a:tabLst>
                <a:tab pos="54864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Approximate</a:t>
            </a:r>
            <a:r>
              <a:rPr sz="2100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Inference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41705" algn="l" rtl="0" eaLnBrk="0">
              <a:lnSpc>
                <a:spcPct val="86000"/>
              </a:lnSpc>
              <a:spcBef>
                <a:spcPts val="1020"/>
              </a:spcBef>
              <a:tabLst>
                <a:tab pos="112458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Estimate possible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opponent hands.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941705" algn="l" rtl="0" eaLnBrk="0">
              <a:lnSpc>
                <a:spcPct val="87000"/>
              </a:lnSpc>
              <a:spcBef>
                <a:spcPts val="1570"/>
              </a:spcBef>
              <a:tabLst>
                <a:tab pos="112204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Use sampling when exact calculation is too expe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nsive.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2000"/>
              </a:lnSpc>
            </a:pPr>
            <a:endParaRPr sz="12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941705" algn="l" rtl="0" eaLnBrk="0">
              <a:lnSpc>
                <a:spcPct val="87000"/>
              </a:lnSpc>
              <a:tabLst>
                <a:tab pos="112204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3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Update belie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fs from bidding and playing</a:t>
            </a:r>
            <a:r>
              <a:rPr sz="2100" kern="0" spc="1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behavior.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96" name="path 96"/>
          <p:cNvSpPr/>
          <p:nvPr/>
        </p:nvSpPr>
        <p:spPr>
          <a:xfrm>
            <a:off x="1547812" y="547211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98" name="path 98"/>
          <p:cNvSpPr/>
          <p:nvPr/>
        </p:nvSpPr>
        <p:spPr>
          <a:xfrm>
            <a:off x="1547812" y="500538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00" name="path 100"/>
          <p:cNvSpPr/>
          <p:nvPr/>
        </p:nvSpPr>
        <p:spPr>
          <a:xfrm>
            <a:off x="1547812" y="452913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02" name="picture 1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4133850"/>
            <a:ext cx="95250" cy="95250"/>
          </a:xfrm>
          <a:prstGeom prst="rect">
            <a:avLst/>
          </a:prstGeom>
        </p:spPr>
      </p:pic>
      <p:sp>
        <p:nvSpPr>
          <p:cNvPr id="104" name="path 104"/>
          <p:cNvSpPr/>
          <p:nvPr/>
        </p:nvSpPr>
        <p:spPr>
          <a:xfrm>
            <a:off x="1547812" y="366236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06" name="path 106"/>
          <p:cNvSpPr/>
          <p:nvPr/>
        </p:nvSpPr>
        <p:spPr>
          <a:xfrm>
            <a:off x="1547812" y="319563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08" name="picture 1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2800350"/>
            <a:ext cx="95250" cy="95250"/>
          </a:xfrm>
          <a:prstGeom prst="rect">
            <a:avLst/>
          </a:prstGeom>
        </p:spPr>
      </p:pic>
      <p:sp>
        <p:nvSpPr>
          <p:cNvPr id="110" name="textbox 110"/>
          <p:cNvSpPr/>
          <p:nvPr/>
        </p:nvSpPr>
        <p:spPr>
          <a:xfrm>
            <a:off x="288823" y="6403797"/>
            <a:ext cx="11630660" cy="2406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8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6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9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12" name="textbox 112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114"/>
          <p:cNvSpPr/>
          <p:nvPr/>
        </p:nvSpPr>
        <p:spPr>
          <a:xfrm>
            <a:off x="699746" y="1739668"/>
            <a:ext cx="6776719" cy="34956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085" algn="l" rtl="0" eaLnBrk="0">
              <a:lnSpc>
                <a:spcPct val="84000"/>
              </a:lnSpc>
            </a:pPr>
            <a:r>
              <a:rPr sz="3600" b="1" kern="0" spc="8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Implementmethods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3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3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4000"/>
              </a:lnSpc>
              <a:spcBef>
                <a:spcPts val="690"/>
              </a:spcBef>
            </a:pPr>
            <a:r>
              <a:rPr sz="2300" b="1" kern="0" spc="27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4.</a:t>
            </a:r>
            <a:r>
              <a:rPr sz="2300" kern="0" spc="17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MDP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0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95605" algn="l" rtl="0" eaLnBrk="0">
              <a:lnSpc>
                <a:spcPct val="80000"/>
              </a:lnSpc>
              <a:spcBef>
                <a:spcPts val="635"/>
              </a:spcBef>
              <a:tabLst>
                <a:tab pos="58102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Markov</a:t>
            </a:r>
            <a:r>
              <a:rPr sz="2100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7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Decisio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</a:t>
            </a:r>
            <a:r>
              <a:rPr sz="2100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Process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6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(MDP)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52500" algn="l" rtl="0" eaLnBrk="0">
              <a:lnSpc>
                <a:spcPct val="77000"/>
              </a:lnSpc>
              <a:spcBef>
                <a:spcPts val="1120"/>
              </a:spcBef>
              <a:tabLst>
                <a:tab pos="113538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8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Define states, actions, transitions, and rewards.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95605" algn="l" rtl="0" eaLnBrk="0">
              <a:lnSpc>
                <a:spcPct val="76000"/>
              </a:lnSpc>
              <a:spcBef>
                <a:spcPts val="1755"/>
              </a:spcBef>
              <a:tabLst>
                <a:tab pos="57213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State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Value</a:t>
            </a:r>
            <a:r>
              <a:rPr sz="2100" kern="0" spc="5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Function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52500" algn="l" rtl="0" eaLnBrk="0">
              <a:lnSpc>
                <a:spcPct val="87000"/>
              </a:lnSpc>
              <a:spcBef>
                <a:spcPts val="1235"/>
              </a:spcBef>
              <a:tabLst>
                <a:tab pos="113538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Estimate how good a gam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e</a:t>
            </a:r>
            <a:r>
              <a:rPr sz="2100" kern="0" spc="12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state</a:t>
            </a:r>
            <a:r>
              <a:rPr sz="2100" kern="0" spc="15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is.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algn="l" rtl="0" eaLnBrk="0">
              <a:lnSpc>
                <a:spcPct val="108000"/>
              </a:lnSpc>
            </a:pPr>
            <a:endParaRPr sz="12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952500" algn="l" rtl="0" eaLnBrk="0">
              <a:lnSpc>
                <a:spcPct val="87000"/>
              </a:lnSpc>
              <a:spcBef>
                <a:spcPts val="5"/>
              </a:spcBef>
              <a:tabLst>
                <a:tab pos="1132840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Use value estimates to guide move selection.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16" name="path 116"/>
          <p:cNvSpPr/>
          <p:nvPr/>
        </p:nvSpPr>
        <p:spPr>
          <a:xfrm>
            <a:off x="1547812" y="500538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8" name="path 118"/>
          <p:cNvSpPr/>
          <p:nvPr/>
        </p:nvSpPr>
        <p:spPr>
          <a:xfrm>
            <a:off x="1547812" y="452913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20" name="picture 1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4133850"/>
            <a:ext cx="95250" cy="95250"/>
          </a:xfrm>
          <a:prstGeom prst="rect">
            <a:avLst/>
          </a:prstGeom>
        </p:spPr>
      </p:pic>
      <p:sp>
        <p:nvSpPr>
          <p:cNvPr id="122" name="path 122"/>
          <p:cNvSpPr/>
          <p:nvPr/>
        </p:nvSpPr>
        <p:spPr>
          <a:xfrm>
            <a:off x="1547812" y="366236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24" name="picture 1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3267075"/>
            <a:ext cx="95250" cy="95250"/>
          </a:xfrm>
          <a:prstGeom prst="rect">
            <a:avLst/>
          </a:prstGeom>
        </p:spPr>
      </p:pic>
      <p:sp>
        <p:nvSpPr>
          <p:cNvPr id="126" name="textbox 126"/>
          <p:cNvSpPr/>
          <p:nvPr/>
        </p:nvSpPr>
        <p:spPr>
          <a:xfrm>
            <a:off x="288823" y="6402883"/>
            <a:ext cx="11630660" cy="2413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9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</a:t>
            </a:r>
            <a:r>
              <a:rPr sz="1300" kern="0" spc="5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5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10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28" name="textbox 128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30"/>
          <p:cNvSpPr/>
          <p:nvPr/>
        </p:nvSpPr>
        <p:spPr>
          <a:xfrm>
            <a:off x="715242" y="1539643"/>
            <a:ext cx="6661785" cy="38957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845" algn="l" rtl="0" eaLnBrk="0">
              <a:lnSpc>
                <a:spcPct val="84000"/>
              </a:lnSpc>
            </a:pPr>
            <a:r>
              <a:rPr sz="3600" b="1" kern="0" spc="80" dirty="0">
                <a:solidFill>
                  <a:srgbClr val="1F618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Implementmethods</a:t>
            </a:r>
            <a:endParaRPr sz="3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2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2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6000"/>
              </a:lnSpc>
              <a:spcBef>
                <a:spcPts val="690"/>
              </a:spcBef>
            </a:pPr>
            <a:r>
              <a:rPr sz="2300" b="1" kern="0" spc="11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5.</a:t>
            </a:r>
            <a:r>
              <a:rPr sz="2300" kern="0" spc="11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Reinforcement</a:t>
            </a:r>
            <a:r>
              <a:rPr sz="2300" kern="0" spc="16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300" b="1" kern="0" spc="0" dirty="0">
                <a:solidFill>
                  <a:srgbClr val="27496D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Learning</a:t>
            </a:r>
            <a:endParaRPr sz="23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379730" algn="l" rtl="0" eaLnBrk="0">
              <a:lnSpc>
                <a:spcPct val="85000"/>
              </a:lnSpc>
              <a:spcBef>
                <a:spcPts val="1705"/>
              </a:spcBef>
              <a:tabLst>
                <a:tab pos="55308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28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Q-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Learning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937260" algn="l" rtl="0" eaLnBrk="0">
              <a:lnSpc>
                <a:spcPct val="87000"/>
              </a:lnSpc>
              <a:spcBef>
                <a:spcPts val="995"/>
              </a:spcBef>
              <a:tabLst>
                <a:tab pos="11195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Learn action val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ues through self-play.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379730" algn="l" rtl="0" eaLnBrk="0">
              <a:lnSpc>
                <a:spcPct val="85000"/>
              </a:lnSpc>
              <a:spcBef>
                <a:spcPts val="1500"/>
              </a:spcBef>
              <a:tabLst>
                <a:tab pos="55181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	</a:t>
            </a:r>
            <a:r>
              <a:rPr sz="2100" b="1" kern="0" spc="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ε-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Greedy</a:t>
            </a:r>
            <a:r>
              <a:rPr sz="2100" kern="0" spc="14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Policy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marL="284480" indent="652145" algn="l" rtl="0" eaLnBrk="0">
              <a:lnSpc>
                <a:spcPct val="107000"/>
              </a:lnSpc>
              <a:spcBef>
                <a:spcPts val="1010"/>
              </a:spcBef>
              <a:tabLst>
                <a:tab pos="11195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Balance explora</a:t>
            </a:r>
            <a:r>
              <a:rPr sz="2100" kern="0" spc="9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tion and exploitation.</a:t>
            </a: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</a:t>
            </a:r>
            <a:r>
              <a:rPr sz="2100" kern="0" spc="-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2600" kern="0" spc="3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600" kern="0" spc="10" dirty="0">
                <a:solidFill>
                  <a:srgbClr val="172033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Policy</a:t>
            </a:r>
            <a:r>
              <a:rPr sz="2100" kern="0" spc="3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2100" b="1" kern="0" spc="0" dirty="0">
                <a:solidFill>
                  <a:srgbClr val="172033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Search</a:t>
            </a:r>
            <a:endParaRPr sz="21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 rtl="0" eaLnBrk="0">
              <a:lnSpc>
                <a:spcPct val="101000"/>
              </a:lnSpc>
            </a:pPr>
            <a:endParaRPr sz="7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937260" algn="l" rtl="0" eaLnBrk="0">
              <a:lnSpc>
                <a:spcPct val="87000"/>
              </a:lnSpc>
              <a:spcBef>
                <a:spcPts val="5"/>
              </a:spcBef>
              <a:tabLst>
                <a:tab pos="1119505" algn="l"/>
              </a:tabLst>
            </a:pPr>
            <a:r>
              <a:rPr sz="2100" kern="0" spc="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	</a:t>
            </a:r>
            <a:r>
              <a:rPr sz="2100" kern="0" spc="11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Directly optim</a:t>
            </a:r>
            <a:r>
              <a:rPr sz="2100" kern="0" spc="100" dirty="0">
                <a:solidFill>
                  <a:srgbClr val="172033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ize the agent's playing strategy.</a:t>
            </a:r>
            <a:endParaRPr sz="21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32" name="path 132"/>
          <p:cNvSpPr/>
          <p:nvPr/>
        </p:nvSpPr>
        <p:spPr>
          <a:xfrm>
            <a:off x="1547812" y="520541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34" name="path 134"/>
          <p:cNvSpPr/>
          <p:nvPr/>
        </p:nvSpPr>
        <p:spPr>
          <a:xfrm>
            <a:off x="1547812" y="4329112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36" name="picture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3933825"/>
            <a:ext cx="95250" cy="95250"/>
          </a:xfrm>
          <a:prstGeom prst="rect">
            <a:avLst/>
          </a:prstGeom>
        </p:spPr>
      </p:pic>
      <p:sp>
        <p:nvSpPr>
          <p:cNvPr id="138" name="path 138"/>
          <p:cNvSpPr/>
          <p:nvPr/>
        </p:nvSpPr>
        <p:spPr>
          <a:xfrm>
            <a:off x="1547812" y="3462337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65" h="165">
                <a:moveTo>
                  <a:pt x="157" y="82"/>
                </a:moveTo>
                <a:cubicBezTo>
                  <a:pt x="157" y="92"/>
                  <a:pt x="155" y="102"/>
                  <a:pt x="151" y="111"/>
                </a:cubicBezTo>
                <a:cubicBezTo>
                  <a:pt x="147" y="120"/>
                  <a:pt x="142" y="128"/>
                  <a:pt x="135" y="135"/>
                </a:cubicBezTo>
                <a:cubicBezTo>
                  <a:pt x="128" y="142"/>
                  <a:pt x="120" y="147"/>
                  <a:pt x="111" y="151"/>
                </a:cubicBezTo>
                <a:cubicBezTo>
                  <a:pt x="102" y="155"/>
                  <a:pt x="92" y="157"/>
                  <a:pt x="82" y="157"/>
                </a:cubicBezTo>
                <a:cubicBezTo>
                  <a:pt x="72" y="157"/>
                  <a:pt x="62" y="155"/>
                  <a:pt x="53" y="151"/>
                </a:cubicBezTo>
                <a:cubicBezTo>
                  <a:pt x="44" y="147"/>
                  <a:pt x="36" y="142"/>
                  <a:pt x="29" y="135"/>
                </a:cubicBezTo>
                <a:cubicBezTo>
                  <a:pt x="22" y="128"/>
                  <a:pt x="17" y="120"/>
                  <a:pt x="13" y="111"/>
                </a:cubicBezTo>
                <a:cubicBezTo>
                  <a:pt x="9" y="102"/>
                  <a:pt x="7" y="92"/>
                  <a:pt x="7" y="82"/>
                </a:cubicBezTo>
                <a:cubicBezTo>
                  <a:pt x="7" y="72"/>
                  <a:pt x="9" y="62"/>
                  <a:pt x="13" y="53"/>
                </a:cubicBezTo>
                <a:cubicBezTo>
                  <a:pt x="17" y="44"/>
                  <a:pt x="22" y="36"/>
                  <a:pt x="29" y="29"/>
                </a:cubicBezTo>
                <a:cubicBezTo>
                  <a:pt x="36" y="22"/>
                  <a:pt x="44" y="17"/>
                  <a:pt x="53" y="13"/>
                </a:cubicBezTo>
                <a:cubicBezTo>
                  <a:pt x="62" y="9"/>
                  <a:pt x="72" y="7"/>
                  <a:pt x="82" y="7"/>
                </a:cubicBezTo>
                <a:cubicBezTo>
                  <a:pt x="92" y="7"/>
                  <a:pt x="102" y="9"/>
                  <a:pt x="111" y="13"/>
                </a:cubicBezTo>
                <a:cubicBezTo>
                  <a:pt x="120" y="17"/>
                  <a:pt x="128" y="22"/>
                  <a:pt x="135" y="29"/>
                </a:cubicBezTo>
                <a:cubicBezTo>
                  <a:pt x="142" y="36"/>
                  <a:pt x="147" y="44"/>
                  <a:pt x="151" y="53"/>
                </a:cubicBezTo>
                <a:cubicBezTo>
                  <a:pt x="155" y="62"/>
                  <a:pt x="157" y="72"/>
                  <a:pt x="157" y="82"/>
                </a:cubicBezTo>
              </a:path>
            </a:pathLst>
          </a:custGeom>
          <a:noFill/>
          <a:ln w="9525" cap="flat">
            <a:solidFill>
              <a:srgbClr val="172033"/>
            </a:solidFill>
            <a:prstDash val="solid"/>
            <a:miter lim="40000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40" name="picture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1000124" y="3067050"/>
            <a:ext cx="95250" cy="95250"/>
          </a:xfrm>
          <a:prstGeom prst="rect">
            <a:avLst/>
          </a:prstGeom>
        </p:spPr>
      </p:pic>
      <p:sp>
        <p:nvSpPr>
          <p:cNvPr id="142" name="textbox 142"/>
          <p:cNvSpPr/>
          <p:nvPr/>
        </p:nvSpPr>
        <p:spPr>
          <a:xfrm>
            <a:off x="288823" y="6402883"/>
            <a:ext cx="11630660" cy="2413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9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</a:t>
            </a:r>
            <a:r>
              <a:rPr sz="1300" kern="0" spc="5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5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11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44" name="textbox 144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picture 14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5000625" y="1524000"/>
            <a:ext cx="2190750" cy="2190750"/>
          </a:xfrm>
          <a:prstGeom prst="rect">
            <a:avLst/>
          </a:prstGeom>
        </p:spPr>
      </p:pic>
      <p:sp>
        <p:nvSpPr>
          <p:cNvPr id="148" name="textbox 148"/>
          <p:cNvSpPr/>
          <p:nvPr/>
        </p:nvSpPr>
        <p:spPr>
          <a:xfrm>
            <a:off x="288823" y="6402883"/>
            <a:ext cx="11630660" cy="2413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79000"/>
              </a:lnSpc>
            </a:pPr>
            <a:r>
              <a:rPr sz="1300" kern="0" spc="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Fight the la</a:t>
            </a:r>
            <a:r>
              <a:rPr sz="1300" kern="0" spc="5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ndlord</a:t>
            </a:r>
            <a:r>
              <a:rPr sz="1300" kern="0" spc="1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                                                                                                                                                                                                             </a:t>
            </a:r>
            <a:r>
              <a:rPr sz="1800" kern="0" spc="50" dirty="0">
                <a:solidFill>
                  <a:srgbClr val="777777">
                    <a:alpha val="100000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12</a:t>
            </a:r>
            <a:endParaRPr sz="18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50" name="textbox 150"/>
          <p:cNvSpPr/>
          <p:nvPr/>
        </p:nvSpPr>
        <p:spPr>
          <a:xfrm>
            <a:off x="4692177" y="4360943"/>
            <a:ext cx="2818130" cy="6108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0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3000"/>
              </a:lnSpc>
            </a:pPr>
            <a:r>
              <a:rPr sz="4600" b="1" kern="0" spc="8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Thank</a:t>
            </a:r>
            <a:r>
              <a:rPr sz="4600" kern="0" spc="8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 </a:t>
            </a:r>
            <a:r>
              <a:rPr sz="4600" b="1" kern="0" spc="80" dirty="0">
                <a:solidFill>
                  <a:srgbClr val="12385F">
                    <a:alpha val="100000"/>
                  </a:srgbClr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you</a:t>
            </a:r>
            <a:endParaRPr sz="4600" dirty="0"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280936" y="249066"/>
            <a:ext cx="1663065" cy="197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7000"/>
              </a:lnSpc>
            </a:pP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CS</a:t>
            </a:r>
            <a:r>
              <a:rPr sz="1300" kern="0" spc="16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181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AI</a:t>
            </a:r>
            <a:r>
              <a:rPr sz="1300" kern="0" spc="14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Final</a:t>
            </a:r>
            <a:r>
              <a:rPr sz="1300" kern="0" spc="13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 </a:t>
            </a:r>
            <a:r>
              <a:rPr sz="1300" kern="0" spc="0" dirty="0">
                <a:solidFill>
                  <a:srgbClr val="666666">
                    <a:alpha val="74901"/>
                  </a:srgbClr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Project</a:t>
            </a:r>
            <a:endParaRPr sz="1300" dirty="0"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6256</Words>
  <Application>WPS 演示</Application>
  <PresentationFormat/>
  <Paragraphs>197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9" baseType="lpstr">
      <vt:lpstr>Arial</vt:lpstr>
      <vt:lpstr>宋体</vt:lpstr>
      <vt:lpstr>Wingdings</vt:lpstr>
      <vt:lpstr>Arial</vt:lpstr>
      <vt:lpstr>Trebuchet MS</vt:lpstr>
      <vt:lpstr>Gill Sans</vt:lpstr>
      <vt:lpstr>Gill Sans MT</vt:lpstr>
      <vt:lpstr>PingFang SC</vt:lpstr>
      <vt:lpstr>微软雅黑</vt:lpstr>
      <vt:lpstr>Arial Unicode MS</vt:lpstr>
      <vt:lpstr>Calibri</vt:lpstr>
      <vt:lpstr>Gill Sans</vt:lpstr>
      <vt:lpstr>PingFang SC</vt:lpstr>
      <vt:lpstr>Trebuchet MS</vt:lpstr>
      <vt:lpstr>AMGDT</vt:lpstr>
      <vt:lpstr>Saturday Sans Regular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Fight the landlord</dc:title>
  <dc:creator/>
  <cp:lastModifiedBy>994</cp:lastModifiedBy>
  <cp:revision>8</cp:revision>
  <dcterms:created xsi:type="dcterms:W3CDTF">2026-05-16T04:32:00Z</dcterms:created>
  <dcterms:modified xsi:type="dcterms:W3CDTF">2026-05-17T14:28:00Z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wqlLaW5nc29mdCBQREYgdG8gV1BTIDExNQ</vt:lpwstr>
  </property>
  <property fmtid="{D5CDD505-2E9C-101B-9397-08002B2CF9AE}" pid="3" name="Created">
    <vt:filetime>2026-05-16T20:31:52Z</vt:filetime>
  </property>
  <property fmtid="{D5CDD505-2E9C-101B-9397-08002B2CF9AE}" pid="4" name="ICV">
    <vt:lpwstr>FB8CA128729B598F4CF3076A5106CC9A_43</vt:lpwstr>
  </property>
  <property fmtid="{D5CDD505-2E9C-101B-9397-08002B2CF9AE}" pid="5" name="KSOProductBuildVer">
    <vt:lpwstr>2052-12.1.0.26375</vt:lpwstr>
  </property>
</Properties>
</file>