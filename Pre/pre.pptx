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288823" y="3960893"/>
            <a:ext cx="11630660" cy="2683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444875" algn="l" rtl="0" eaLnBrk="0">
              <a:lnSpc>
                <a:spcPct val="83000"/>
              </a:lnSpc>
            </a:pPr>
            <a:r>
              <a:rPr sz="4600" b="1" kern="0" spc="0" dirty="0">
                <a:solidFill>
                  <a:srgbClr val="12385F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Fight</a:t>
            </a:r>
            <a:r>
              <a:rPr sz="4600" kern="0" spc="100" dirty="0">
                <a:solidFill>
                  <a:srgbClr val="12385F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4600" b="1" kern="0" spc="0" dirty="0">
                <a:solidFill>
                  <a:srgbClr val="12385F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the</a:t>
            </a:r>
            <a:r>
              <a:rPr sz="4600" kern="0" spc="100" dirty="0">
                <a:solidFill>
                  <a:srgbClr val="12385F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4600" b="1" kern="0" spc="0" dirty="0">
                <a:solidFill>
                  <a:srgbClr val="12385F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landlord</a:t>
            </a:r>
            <a:endParaRPr sz="4600" dirty="0">
              <a:latin typeface="Trebuchet MS" panose="020B0703020202090204"/>
              <a:ea typeface="Trebuchet MS" panose="020B0703020202090204"/>
              <a:cs typeface="Trebuchet MS" panose="020B0703020202090204"/>
            </a:endParaRPr>
          </a:p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4909185" algn="l" rtl="0" eaLnBrk="0">
              <a:lnSpc>
                <a:spcPct val="88000"/>
              </a:lnSpc>
              <a:spcBef>
                <a:spcPts val="490"/>
              </a:spcBef>
            </a:pPr>
            <a:r>
              <a:rPr sz="1600" kern="0" spc="60" dirty="0">
                <a:solidFill>
                  <a:srgbClr val="52637A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CS181</a:t>
            </a:r>
            <a:r>
              <a:rPr sz="1600" kern="0" spc="190" dirty="0">
                <a:solidFill>
                  <a:srgbClr val="52637A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1600" kern="0" spc="60" dirty="0">
                <a:solidFill>
                  <a:srgbClr val="52637A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Final</a:t>
            </a:r>
            <a:r>
              <a:rPr sz="1600" kern="0" spc="170" dirty="0">
                <a:solidFill>
                  <a:srgbClr val="52637A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1600" kern="0" spc="60" dirty="0">
                <a:solidFill>
                  <a:srgbClr val="52637A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Project</a:t>
            </a:r>
            <a:endParaRPr sz="16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marL="4540250" algn="l" rtl="0" eaLnBrk="0">
              <a:lnSpc>
                <a:spcPct val="88000"/>
              </a:lnSpc>
              <a:spcBef>
                <a:spcPts val="645"/>
              </a:spcBef>
            </a:pPr>
            <a:r>
              <a:rPr sz="1600" kern="0" spc="50" dirty="0">
                <a:solidFill>
                  <a:srgbClr val="52637A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钱磊 张子豪 林子修 徐景骐</a:t>
            </a:r>
            <a:endParaRPr sz="16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4000"/>
              </a:lnSpc>
            </a:pPr>
            <a:endParaRPr sz="4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79000"/>
              </a:lnSpc>
              <a:spcBef>
                <a:spcPts val="5"/>
              </a:spcBef>
            </a:pPr>
            <a:r>
              <a:rPr sz="1300" kern="0" spc="5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Fight the landlord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1800" kern="0" spc="50" dirty="0">
                <a:solidFill>
                  <a:srgbClr val="777777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1</a:t>
            </a:r>
            <a:endParaRPr sz="18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5000625" y="1123950"/>
            <a:ext cx="2190750" cy="2190750"/>
          </a:xfrm>
          <a:prstGeom prst="rect">
            <a:avLst/>
          </a:prstGeom>
        </p:spPr>
      </p:pic>
      <p:sp>
        <p:nvSpPr>
          <p:cNvPr id="6" name="textbox 6"/>
          <p:cNvSpPr/>
          <p:nvPr/>
        </p:nvSpPr>
        <p:spPr>
          <a:xfrm>
            <a:off x="280936" y="249066"/>
            <a:ext cx="1663065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CS</a:t>
            </a:r>
            <a:r>
              <a:rPr sz="1300" kern="0" spc="16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181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AI</a:t>
            </a:r>
            <a:r>
              <a:rPr sz="1300" kern="0" spc="14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Final</a:t>
            </a:r>
            <a:r>
              <a:rPr sz="1300" kern="0" spc="13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Project</a:t>
            </a:r>
            <a:endParaRPr sz="13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572250" y="1685925"/>
            <a:ext cx="4914900" cy="4476750"/>
          </a:xfrm>
          <a:prstGeom prst="rect">
            <a:avLst/>
          </a:prstGeom>
        </p:spPr>
      </p:pic>
      <p:sp>
        <p:nvSpPr>
          <p:cNvPr id="10" name="textbox 10"/>
          <p:cNvSpPr/>
          <p:nvPr/>
        </p:nvSpPr>
        <p:spPr>
          <a:xfrm>
            <a:off x="987424" y="1837254"/>
            <a:ext cx="5172075" cy="40627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69000"/>
              </a:lnSpc>
            </a:pPr>
            <a:r>
              <a:rPr sz="2600" kern="0" spc="10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r>
              <a:rPr sz="2600" kern="0" spc="1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</a:t>
            </a:r>
            <a:r>
              <a:rPr sz="2100" kern="0" spc="1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Fight the landlor</a:t>
            </a:r>
            <a:r>
              <a:rPr sz="2100" kern="0" spc="9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 is a competitive</a:t>
            </a:r>
            <a:r>
              <a:rPr sz="2100" kern="0" spc="11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9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card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marL="282575" algn="l" rtl="0" eaLnBrk="0">
              <a:lnSpc>
                <a:spcPts val="3150"/>
              </a:lnSpc>
            </a:pPr>
            <a:r>
              <a:rPr sz="2100" kern="0" spc="6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game with </a:t>
            </a:r>
            <a:r>
              <a:rPr sz="2100" b="1" kern="0" spc="6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adversarial</a:t>
            </a:r>
            <a:r>
              <a:rPr sz="2100" kern="0" spc="6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b="1" kern="0" spc="6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d</a:t>
            </a:r>
            <a:r>
              <a:rPr sz="2100" b="1" kern="0" spc="5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ecision-</a:t>
            </a:r>
            <a:endParaRPr sz="2100" dirty="0">
              <a:latin typeface="Trebuchet MS" panose="020B0703020202090204"/>
              <a:ea typeface="Trebuchet MS" panose="020B0703020202090204"/>
              <a:cs typeface="Trebuchet MS" panose="020B0703020202090204"/>
            </a:endParaRPr>
          </a:p>
          <a:p>
            <a:pPr marL="290195" algn="l" rtl="0" eaLnBrk="0">
              <a:lnSpc>
                <a:spcPct val="85000"/>
              </a:lnSpc>
              <a:spcBef>
                <a:spcPts val="1010"/>
              </a:spcBef>
            </a:pPr>
            <a:r>
              <a:rPr sz="2100" b="1" kern="0" spc="5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making</a:t>
            </a:r>
            <a:r>
              <a:rPr sz="2100" kern="0" spc="5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marL="107950" algn="l" rtl="0" eaLnBrk="0">
              <a:lnSpc>
                <a:spcPct val="85000"/>
              </a:lnSpc>
              <a:spcBef>
                <a:spcPts val="1520"/>
              </a:spcBef>
              <a:tabLst>
                <a:tab pos="295275" algn="l"/>
              </a:tabLst>
            </a:pP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	</a:t>
            </a:r>
            <a:r>
              <a:rPr sz="2100" kern="0" spc="7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It also has </a:t>
            </a:r>
            <a:r>
              <a:rPr sz="2100" b="1" kern="0" spc="7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team</a:t>
            </a:r>
            <a:r>
              <a:rPr sz="2100" kern="0" spc="7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b="1" kern="0" spc="7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cooperat</a:t>
            </a:r>
            <a:r>
              <a:rPr sz="2100" b="1" kern="0" spc="6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ion</a:t>
            </a:r>
            <a:r>
              <a:rPr sz="2100" kern="0" spc="6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,</a:t>
            </a:r>
            <a:r>
              <a:rPr sz="2100" kern="0" spc="1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6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because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marL="275590" algn="l" rtl="0" eaLnBrk="0">
              <a:lnSpc>
                <a:spcPts val="3160"/>
              </a:lnSpc>
            </a:pPr>
            <a:r>
              <a:rPr sz="2100" kern="0" spc="11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two farmers pl</a:t>
            </a:r>
            <a:r>
              <a:rPr sz="2100" kern="0" spc="1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ay against one</a:t>
            </a:r>
            <a:r>
              <a:rPr sz="2100" kern="0" spc="1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1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landlord.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marL="12700" algn="l" rtl="0" eaLnBrk="0">
              <a:lnSpc>
                <a:spcPct val="69000"/>
              </a:lnSpc>
              <a:spcBef>
                <a:spcPts val="1520"/>
              </a:spcBef>
            </a:pPr>
            <a:r>
              <a:rPr sz="2600" kern="0" spc="6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r>
              <a:rPr sz="2600" kern="0" spc="59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100" kern="0" spc="6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The game has</a:t>
            </a:r>
            <a:r>
              <a:rPr sz="2100" kern="0" spc="16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b="1" kern="0" spc="6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imperfect</a:t>
            </a:r>
            <a:r>
              <a:rPr sz="2100" kern="0" spc="6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b="1" kern="0" spc="6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informatio</a:t>
            </a:r>
            <a:r>
              <a:rPr sz="2100" b="1" kern="0" spc="5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n</a:t>
            </a:r>
            <a:r>
              <a:rPr sz="2100" kern="0" spc="5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: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marL="292100" algn="l" rtl="0" eaLnBrk="0">
              <a:lnSpc>
                <a:spcPts val="3150"/>
              </a:lnSpc>
            </a:pPr>
            <a:r>
              <a:rPr sz="2100" kern="0" spc="12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players ca</a:t>
            </a:r>
            <a:r>
              <a:rPr sz="2100" kern="0" spc="11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nnot see opponents' hands.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marL="107950" algn="l" rtl="0" eaLnBrk="0">
              <a:lnSpc>
                <a:spcPct val="85000"/>
              </a:lnSpc>
              <a:spcBef>
                <a:spcPts val="1610"/>
              </a:spcBef>
              <a:tabLst>
                <a:tab pos="274955" algn="l"/>
              </a:tabLst>
            </a:pP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	</a:t>
            </a:r>
            <a:r>
              <a:rPr sz="2100" kern="0" spc="11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The large action space</a:t>
            </a:r>
            <a:r>
              <a:rPr sz="2100" kern="0" spc="1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11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mak</a:t>
            </a:r>
            <a:r>
              <a:rPr sz="2100" kern="0" spc="1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es it valuable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marL="276860" algn="l" rtl="0" eaLnBrk="0">
              <a:lnSpc>
                <a:spcPts val="3150"/>
              </a:lnSpc>
            </a:pPr>
            <a:r>
              <a:rPr sz="2100" kern="0" spc="11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for studying AI search and le</a:t>
            </a:r>
            <a:r>
              <a:rPr sz="2100" kern="0" spc="1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arning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algn="l" rtl="0" eaLnBrk="0">
              <a:lnSpc>
                <a:spcPct val="105000"/>
              </a:lnSpc>
            </a:pPr>
            <a:endParaRPr sz="8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92100" algn="l" rtl="0" eaLnBrk="0">
              <a:lnSpc>
                <a:spcPct val="71000"/>
              </a:lnSpc>
            </a:pPr>
            <a:r>
              <a:rPr sz="2100" kern="0" spc="1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methods.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0124" y="4924425"/>
            <a:ext cx="95250" cy="9525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0124" y="3181350"/>
            <a:ext cx="95250" cy="95250"/>
          </a:xfrm>
          <a:prstGeom prst="rect">
            <a:avLst/>
          </a:prstGeom>
        </p:spPr>
      </p:pic>
      <p:sp>
        <p:nvSpPr>
          <p:cNvPr id="16" name="textbox 16"/>
          <p:cNvSpPr/>
          <p:nvPr/>
        </p:nvSpPr>
        <p:spPr>
          <a:xfrm>
            <a:off x="288823" y="6403797"/>
            <a:ext cx="11630660" cy="2406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300" kern="0" spc="6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Fight the landlord</a:t>
            </a:r>
            <a:r>
              <a:rPr sz="1300" kern="0" spc="1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                         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                                                                                                                                                                                                </a:t>
            </a:r>
            <a:r>
              <a:rPr sz="1800" kern="0" spc="60" dirty="0">
                <a:solidFill>
                  <a:srgbClr val="777777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2</a:t>
            </a:r>
            <a:endParaRPr sz="18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732534" y="704260"/>
            <a:ext cx="2313940" cy="431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3600" b="1" kern="0" spc="90" dirty="0">
                <a:solidFill>
                  <a:srgbClr val="1F618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Motivation</a:t>
            </a:r>
            <a:endParaRPr sz="3600" dirty="0">
              <a:latin typeface="Trebuchet MS" panose="020B0703020202090204"/>
              <a:ea typeface="Trebuchet MS" panose="020B0703020202090204"/>
              <a:cs typeface="Trebuchet MS" panose="020B0703020202090204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280936" y="249066"/>
            <a:ext cx="1663065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CS</a:t>
            </a:r>
            <a:r>
              <a:rPr sz="1300" kern="0" spc="16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181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AI</a:t>
            </a:r>
            <a:r>
              <a:rPr sz="1300" kern="0" spc="14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Final</a:t>
            </a:r>
            <a:r>
              <a:rPr sz="1300" kern="0" spc="13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Project</a:t>
            </a:r>
            <a:endParaRPr sz="13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572250" y="2143125"/>
            <a:ext cx="4914900" cy="4476750"/>
          </a:xfrm>
          <a:prstGeom prst="rect">
            <a:avLst/>
          </a:prstGeom>
        </p:spPr>
      </p:pic>
      <p:sp>
        <p:nvSpPr>
          <p:cNvPr id="24" name="textbox 24"/>
          <p:cNvSpPr/>
          <p:nvPr/>
        </p:nvSpPr>
        <p:spPr>
          <a:xfrm>
            <a:off x="987424" y="2227780"/>
            <a:ext cx="5172075" cy="3841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69000"/>
              </a:lnSpc>
            </a:pPr>
            <a:r>
              <a:rPr sz="2600" kern="0" spc="21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r>
              <a:rPr sz="2600" kern="0" spc="2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</a:t>
            </a:r>
            <a:r>
              <a:rPr sz="2100" b="1" kern="0" spc="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Players</a:t>
            </a:r>
            <a:r>
              <a:rPr sz="2100" b="1" kern="0" spc="21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:</a:t>
            </a:r>
            <a:r>
              <a:rPr sz="2100" kern="0" spc="21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kern="0" spc="21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3 </a:t>
            </a: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players</a:t>
            </a:r>
            <a:r>
              <a:rPr sz="2100" kern="0" spc="21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:</a:t>
            </a:r>
            <a:r>
              <a:rPr sz="2100" kern="0" spc="25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21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1</a:t>
            </a:r>
            <a:r>
              <a:rPr sz="2100" kern="0" spc="1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landlord</a:t>
            </a:r>
            <a:r>
              <a:rPr sz="2100" kern="0" spc="1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and</a:t>
            </a:r>
            <a:r>
              <a:rPr sz="2100" kern="0" spc="12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21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2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marL="276860" algn="l" rtl="0" eaLnBrk="0">
              <a:lnSpc>
                <a:spcPts val="2665"/>
              </a:lnSpc>
            </a:pPr>
            <a:r>
              <a:rPr sz="2100" kern="0" spc="7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farmers.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07950" algn="l" rtl="0" eaLnBrk="0">
              <a:lnSpc>
                <a:spcPct val="87000"/>
              </a:lnSpc>
              <a:spcBef>
                <a:spcPts val="640"/>
              </a:spcBef>
              <a:tabLst>
                <a:tab pos="281305" algn="l"/>
              </a:tabLst>
            </a:pP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	</a:t>
            </a:r>
            <a:r>
              <a:rPr sz="2100" b="1" kern="0" spc="8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Cards:</a:t>
            </a:r>
            <a:r>
              <a:rPr sz="2100" kern="0" spc="8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kern="0" spc="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54 cards, </a:t>
            </a:r>
            <a:r>
              <a:rPr sz="2100" kern="0" spc="7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including two Jokers.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marL="12700" algn="l" rtl="0" eaLnBrk="0">
              <a:lnSpc>
                <a:spcPct val="70000"/>
              </a:lnSpc>
              <a:spcBef>
                <a:spcPts val="1465"/>
              </a:spcBef>
            </a:pPr>
            <a:r>
              <a:rPr sz="2600" kern="0" spc="6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r>
              <a:rPr sz="2600" kern="0" spc="63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100" b="1" kern="0" spc="6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Goal:</a:t>
            </a:r>
            <a:r>
              <a:rPr sz="2100" kern="0" spc="6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kern="0" spc="6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Be the first side to</a:t>
            </a:r>
            <a:r>
              <a:rPr sz="2100" kern="0" spc="19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6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play</a:t>
            </a:r>
            <a:r>
              <a:rPr sz="2100" kern="0" spc="1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6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all</a:t>
            </a:r>
            <a:r>
              <a:rPr sz="2100" kern="0" spc="11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6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car</a:t>
            </a:r>
            <a:r>
              <a:rPr sz="2100" kern="0" spc="5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ds.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marL="12700" algn="l" rtl="0" eaLnBrk="0">
              <a:lnSpc>
                <a:spcPct val="69000"/>
              </a:lnSpc>
              <a:spcBef>
                <a:spcPts val="1595"/>
              </a:spcBef>
            </a:pPr>
            <a:r>
              <a:rPr sz="2600" kern="0" spc="7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r>
              <a:rPr sz="2600" kern="0" spc="66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100" b="1" kern="0" spc="7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State:</a:t>
            </a:r>
            <a:r>
              <a:rPr sz="2100" kern="0" spc="7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kern="0" spc="7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Play</a:t>
            </a:r>
            <a:r>
              <a:rPr sz="2100" kern="0" spc="6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er hand,</a:t>
            </a:r>
            <a:r>
              <a:rPr sz="2100" kern="0" spc="1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6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public</a:t>
            </a:r>
            <a:r>
              <a:rPr sz="2100" kern="0" spc="1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6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play</a:t>
            </a:r>
            <a:r>
              <a:rPr sz="2100" kern="0" spc="1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6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history,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algn="r" rtl="0" eaLnBrk="0">
              <a:lnSpc>
                <a:spcPct val="87000"/>
              </a:lnSpc>
              <a:spcBef>
                <a:spcPts val="980"/>
              </a:spcBef>
            </a:pPr>
            <a:r>
              <a:rPr sz="2100" kern="0" spc="1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current turn</a:t>
            </a:r>
            <a:r>
              <a:rPr sz="2100" kern="0" spc="9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, and remaining card counts.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marL="12700" algn="l" rtl="0" eaLnBrk="0">
              <a:lnSpc>
                <a:spcPct val="69000"/>
              </a:lnSpc>
              <a:spcBef>
                <a:spcPts val="1485"/>
              </a:spcBef>
            </a:pPr>
            <a:r>
              <a:rPr sz="2600" kern="0" spc="90" dirty="0">
                <a:solidFill>
                  <a:srgbClr val="172032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r>
              <a:rPr sz="2600" kern="0" spc="570" dirty="0">
                <a:solidFill>
                  <a:srgbClr val="172032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100" b="1" kern="0" spc="9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Action:</a:t>
            </a:r>
            <a:r>
              <a:rPr sz="2100" kern="0" spc="9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kern="0" spc="9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Any legal card combination</a:t>
            </a:r>
            <a:r>
              <a:rPr sz="2100" kern="0" spc="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that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marL="282575" algn="l" rtl="0" eaLnBrk="0">
              <a:lnSpc>
                <a:spcPts val="3150"/>
              </a:lnSpc>
            </a:pPr>
            <a:r>
              <a:rPr sz="2100" kern="0" spc="11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can</a:t>
            </a:r>
            <a:r>
              <a:rPr sz="2100" kern="0" spc="1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11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be</a:t>
            </a:r>
            <a:r>
              <a:rPr sz="2100" kern="0" spc="1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11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played</a:t>
            </a:r>
            <a:r>
              <a:rPr sz="2100" kern="0" spc="1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algn="l" rtl="0" eaLnBrk="0">
              <a:lnSpc>
                <a:spcPct val="111000"/>
              </a:lnSpc>
            </a:pPr>
            <a:endParaRPr sz="8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2610"/>
              </a:lnSpc>
              <a:spcBef>
                <a:spcPts val="0"/>
              </a:spcBef>
            </a:pPr>
            <a:r>
              <a:rPr sz="2100" kern="0" spc="6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·</a:t>
            </a:r>
            <a:r>
              <a:rPr sz="2100" kern="0" spc="6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</a:t>
            </a:r>
            <a:r>
              <a:rPr sz="3300" b="1" kern="0" spc="0" baseline="300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Number</a:t>
            </a:r>
            <a:r>
              <a:rPr sz="2100" kern="0" spc="6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3300" b="1" kern="0" spc="0" baseline="300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of</a:t>
            </a:r>
            <a:r>
              <a:rPr sz="2100" kern="0" spc="6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3300" b="1" kern="0" spc="0" baseline="300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states</a:t>
            </a:r>
            <a:r>
              <a:rPr sz="3300" b="1" kern="0" spc="60" baseline="300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:</a:t>
            </a:r>
            <a:r>
              <a:rPr sz="2100" kern="0" spc="6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3300" kern="0" spc="0" baseline="30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Approximately</a:t>
            </a:r>
            <a:r>
              <a:rPr sz="2100" kern="0" spc="27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6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1083</a:t>
            </a:r>
            <a:endParaRPr sz="2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0124" y="3171825"/>
            <a:ext cx="95250" cy="95250"/>
          </a:xfrm>
          <a:prstGeom prst="rect">
            <a:avLst/>
          </a:prstGeom>
        </p:spPr>
      </p:pic>
      <p:sp>
        <p:nvSpPr>
          <p:cNvPr id="28" name="textbox 28"/>
          <p:cNvSpPr/>
          <p:nvPr/>
        </p:nvSpPr>
        <p:spPr>
          <a:xfrm>
            <a:off x="717507" y="675685"/>
            <a:ext cx="6423025" cy="1225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4000"/>
              </a:lnSpc>
            </a:pPr>
            <a:r>
              <a:rPr sz="3600" b="1" kern="0" spc="50" dirty="0">
                <a:solidFill>
                  <a:srgbClr val="1F618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Settings</a:t>
            </a:r>
            <a:endParaRPr sz="3600" dirty="0">
              <a:latin typeface="Trebuchet MS" panose="020B0703020202090204"/>
              <a:ea typeface="Trebuchet MS" panose="020B0703020202090204"/>
              <a:cs typeface="Trebuchet MS" panose="020B0703020202090204"/>
            </a:endParaRPr>
          </a:p>
          <a:p>
            <a:pPr algn="l" rtl="0" eaLnBrk="0">
              <a:lnSpc>
                <a:spcPct val="12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6000"/>
              </a:lnSpc>
            </a:pPr>
            <a:endParaRPr sz="5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3335" algn="l" rtl="0" eaLnBrk="0">
              <a:lnSpc>
                <a:spcPct val="78000"/>
              </a:lnSpc>
              <a:spcBef>
                <a:spcPts val="0"/>
              </a:spcBef>
            </a:pPr>
            <a:r>
              <a:rPr sz="2300" b="1" kern="0" spc="40" dirty="0">
                <a:solidFill>
                  <a:srgbClr val="27496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Problem</a:t>
            </a:r>
            <a:r>
              <a:rPr sz="2300" kern="0" spc="40" dirty="0">
                <a:solidFill>
                  <a:srgbClr val="27496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300" b="1" kern="0" spc="40" dirty="0">
                <a:solidFill>
                  <a:srgbClr val="27496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Formulation</a:t>
            </a:r>
            <a:r>
              <a:rPr sz="2300" kern="0" spc="40" dirty="0">
                <a:solidFill>
                  <a:srgbClr val="27496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300" b="1" kern="0" spc="40" dirty="0">
                <a:solidFill>
                  <a:srgbClr val="27496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/</a:t>
            </a:r>
            <a:r>
              <a:rPr sz="2300" kern="0" spc="40" dirty="0">
                <a:solidFill>
                  <a:srgbClr val="27496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300" b="1" kern="0" spc="40" dirty="0">
                <a:solidFill>
                  <a:srgbClr val="27496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Environmen</a:t>
            </a:r>
            <a:r>
              <a:rPr sz="2300" b="1" kern="0" spc="30" dirty="0">
                <a:solidFill>
                  <a:srgbClr val="27496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t</a:t>
            </a:r>
            <a:r>
              <a:rPr sz="2300" kern="0" spc="30" dirty="0">
                <a:solidFill>
                  <a:srgbClr val="27496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300" b="1" kern="0" spc="30" dirty="0">
                <a:solidFill>
                  <a:srgbClr val="27496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Definition</a:t>
            </a:r>
            <a:endParaRPr sz="2300" dirty="0">
              <a:latin typeface="Trebuchet MS" panose="020B0703020202090204"/>
              <a:ea typeface="Trebuchet MS" panose="020B0703020202090204"/>
              <a:cs typeface="Trebuchet MS" panose="020B0703020202090204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288823" y="6171130"/>
            <a:ext cx="11630660" cy="4851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990600" algn="l" rtl="0" eaLnBrk="0">
              <a:lnSpc>
                <a:spcPct val="79000"/>
              </a:lnSpc>
            </a:pPr>
            <a:r>
              <a:rPr sz="2100" kern="0" spc="9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possible states.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marL="12700" algn="l" rtl="0" eaLnBrk="0">
              <a:lnSpc>
                <a:spcPct val="75000"/>
              </a:lnSpc>
              <a:spcBef>
                <a:spcPts val="15"/>
              </a:spcBef>
            </a:pPr>
            <a:r>
              <a:rPr sz="1300" kern="0" spc="6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Fight the landlord</a:t>
            </a:r>
            <a:r>
              <a:rPr sz="1300" kern="0" spc="1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                          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                                                                                                                                                                                               </a:t>
            </a:r>
            <a:r>
              <a:rPr sz="1800" kern="0" spc="60" dirty="0">
                <a:solidFill>
                  <a:srgbClr val="777777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3</a:t>
            </a:r>
            <a:endParaRPr sz="18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280936" y="249066"/>
            <a:ext cx="1663065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CS</a:t>
            </a:r>
            <a:r>
              <a:rPr sz="1300" kern="0" spc="16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181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AI</a:t>
            </a:r>
            <a:r>
              <a:rPr sz="1300" kern="0" spc="14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Final</a:t>
            </a:r>
            <a:r>
              <a:rPr sz="1300" kern="0" spc="13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Project</a:t>
            </a:r>
            <a:endParaRPr sz="13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4"/>
          <p:cNvSpPr/>
          <p:nvPr/>
        </p:nvSpPr>
        <p:spPr>
          <a:xfrm>
            <a:off x="711872" y="1234843"/>
            <a:ext cx="10698480" cy="4501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6000"/>
              </a:lnSpc>
            </a:pPr>
            <a:r>
              <a:rPr sz="3600" b="1" kern="0" spc="60" dirty="0">
                <a:solidFill>
                  <a:srgbClr val="1F618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GameRules</a:t>
            </a:r>
            <a:endParaRPr sz="3600" dirty="0">
              <a:latin typeface="Trebuchet MS" panose="020B0703020202090204"/>
              <a:ea typeface="Trebuchet MS" panose="020B0703020202090204"/>
              <a:cs typeface="Trebuchet MS" panose="020B0703020202090204"/>
            </a:endParaRPr>
          </a:p>
          <a:p>
            <a:pPr algn="l" rtl="0" eaLnBrk="0">
              <a:lnSpc>
                <a:spcPct val="14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9050" algn="l" rtl="0" eaLnBrk="0">
              <a:lnSpc>
                <a:spcPct val="76000"/>
              </a:lnSpc>
              <a:spcBef>
                <a:spcPts val="700"/>
              </a:spcBef>
            </a:pPr>
            <a:r>
              <a:rPr sz="2300" b="1" kern="0" spc="0" dirty="0">
                <a:solidFill>
                  <a:srgbClr val="27496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Basic</a:t>
            </a:r>
            <a:r>
              <a:rPr sz="2300" kern="0" spc="200" dirty="0">
                <a:solidFill>
                  <a:srgbClr val="27496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300" b="1" kern="0" spc="0" dirty="0">
                <a:solidFill>
                  <a:srgbClr val="27496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Rules</a:t>
            </a:r>
            <a:endParaRPr sz="2300" dirty="0">
              <a:latin typeface="Trebuchet MS" panose="020B0703020202090204"/>
              <a:ea typeface="Trebuchet MS" panose="020B0703020202090204"/>
              <a:cs typeface="Trebuchet MS" panose="020B0703020202090204"/>
            </a:endParaRPr>
          </a:p>
          <a:p>
            <a:pPr algn="r" rtl="0" eaLnBrk="0">
              <a:lnSpc>
                <a:spcPct val="69000"/>
              </a:lnSpc>
              <a:spcBef>
                <a:spcPts val="1975"/>
              </a:spcBef>
            </a:pPr>
            <a:r>
              <a:rPr sz="2600" kern="0" spc="6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r>
              <a:rPr sz="2600" kern="0" spc="63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100" b="1" kern="0" spc="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Card</a:t>
            </a:r>
            <a:r>
              <a:rPr sz="2100" kern="0" spc="6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b="1" kern="0" spc="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order</a:t>
            </a:r>
            <a:r>
              <a:rPr sz="2100" b="1" kern="0" spc="6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:</a:t>
            </a:r>
            <a:r>
              <a:rPr sz="2100" kern="0" spc="6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Big</a:t>
            </a:r>
            <a:r>
              <a:rPr sz="2100" kern="0" spc="6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Joker</a:t>
            </a:r>
            <a:r>
              <a:rPr sz="2100" kern="0" spc="3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6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&gt; </a:t>
            </a: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Small</a:t>
            </a:r>
            <a:r>
              <a:rPr sz="2100" kern="0" spc="6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Joker</a:t>
            </a:r>
            <a:r>
              <a:rPr sz="2100" kern="0" spc="29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6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&gt; 2</a:t>
            </a:r>
            <a:r>
              <a:rPr sz="2100" kern="0" spc="3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6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&gt; A</a:t>
            </a:r>
            <a:r>
              <a:rPr sz="2100" kern="0" spc="29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6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&gt;</a:t>
            </a:r>
            <a:r>
              <a:rPr sz="2100" kern="0" spc="21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6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K</a:t>
            </a:r>
            <a:r>
              <a:rPr sz="2100" kern="0" spc="3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6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&gt; Q</a:t>
            </a:r>
            <a:r>
              <a:rPr sz="2100" kern="0" spc="26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6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&gt; J</a:t>
            </a:r>
            <a:r>
              <a:rPr sz="2100" kern="0" spc="3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6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&gt;</a:t>
            </a:r>
            <a:r>
              <a:rPr sz="2100" kern="0" spc="24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6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10</a:t>
            </a:r>
            <a:r>
              <a:rPr sz="2100" kern="0" spc="3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5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&gt;</a:t>
            </a:r>
            <a:r>
              <a:rPr sz="2100" kern="0" spc="1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5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9</a:t>
            </a:r>
            <a:r>
              <a:rPr sz="2100" kern="0" spc="3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5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&gt;</a:t>
            </a:r>
            <a:r>
              <a:rPr sz="2100" kern="0" spc="1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5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8</a:t>
            </a:r>
            <a:r>
              <a:rPr sz="2100" kern="0" spc="3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5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&gt;</a:t>
            </a:r>
            <a:r>
              <a:rPr sz="2100" kern="0" spc="11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5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7</a:t>
            </a:r>
            <a:r>
              <a:rPr sz="2100" kern="0" spc="29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5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&gt;</a:t>
            </a:r>
            <a:r>
              <a:rPr sz="2100" kern="0" spc="13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5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6</a:t>
            </a:r>
            <a:r>
              <a:rPr sz="2100" kern="0" spc="29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5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&gt;</a:t>
            </a:r>
            <a:r>
              <a:rPr sz="2100" kern="0" spc="1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5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5</a:t>
            </a:r>
            <a:r>
              <a:rPr sz="2100" kern="0" spc="3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5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&gt;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marL="546735" algn="l" rtl="0" eaLnBrk="0">
              <a:lnSpc>
                <a:spcPct val="72000"/>
              </a:lnSpc>
              <a:spcBef>
                <a:spcPts val="1050"/>
              </a:spcBef>
            </a:pPr>
            <a:r>
              <a:rPr sz="2100" kern="0" spc="1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4</a:t>
            </a:r>
            <a:r>
              <a:rPr sz="2100" kern="0" spc="32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1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&gt;</a:t>
            </a:r>
            <a:r>
              <a:rPr sz="2100" kern="0" spc="13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1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3.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marL="287655" algn="l" rtl="0" eaLnBrk="0">
              <a:lnSpc>
                <a:spcPct val="70000"/>
              </a:lnSpc>
              <a:spcBef>
                <a:spcPts val="1775"/>
              </a:spcBef>
            </a:pPr>
            <a:r>
              <a:rPr sz="2600" kern="0" spc="9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r>
              <a:rPr sz="2600" kern="0" spc="74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100" kern="0" spc="9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Suits do not affect</a:t>
            </a:r>
            <a:r>
              <a:rPr sz="2100" kern="0" spc="11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9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card</a:t>
            </a:r>
            <a:r>
              <a:rPr sz="2100" kern="0" spc="11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9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strength.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marL="287655" algn="l" rtl="0" eaLnBrk="0">
              <a:lnSpc>
                <a:spcPct val="69000"/>
              </a:lnSpc>
              <a:spcBef>
                <a:spcPts val="1595"/>
              </a:spcBef>
            </a:pPr>
            <a:r>
              <a:rPr sz="2600" kern="0" spc="22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r>
              <a:rPr sz="2600" kern="0" spc="2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</a:t>
            </a: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Each</a:t>
            </a:r>
            <a:r>
              <a:rPr sz="2100" kern="0" spc="22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player</a:t>
            </a:r>
            <a:r>
              <a:rPr sz="2100" kern="0" spc="1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receives</a:t>
            </a:r>
            <a:r>
              <a:rPr sz="2100" kern="0" spc="13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b="1" kern="0" spc="22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17</a:t>
            </a:r>
            <a:r>
              <a:rPr sz="2100" kern="0" spc="22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b="1" kern="0" spc="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cards</a:t>
            </a:r>
            <a:r>
              <a:rPr sz="2100" kern="0" spc="22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marL="287655" algn="l" rtl="0" eaLnBrk="0">
              <a:lnSpc>
                <a:spcPct val="70000"/>
              </a:lnSpc>
              <a:spcBef>
                <a:spcPts val="1490"/>
              </a:spcBef>
            </a:pPr>
            <a:r>
              <a:rPr sz="2600" kern="0" spc="10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r>
              <a:rPr sz="2600" kern="0" spc="58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100" kern="0" spc="1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The remain</a:t>
            </a:r>
            <a:r>
              <a:rPr sz="2100" kern="0" spc="9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ing </a:t>
            </a:r>
            <a:r>
              <a:rPr sz="2100" b="1" kern="0" spc="9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3</a:t>
            </a:r>
            <a:r>
              <a:rPr sz="2100" kern="0" spc="9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b="1" kern="0" spc="9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bottom</a:t>
            </a:r>
            <a:r>
              <a:rPr sz="2100" kern="0" spc="9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b="1" kern="0" spc="9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cards</a:t>
            </a:r>
            <a:r>
              <a:rPr sz="2100" kern="0" spc="9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kern="0" spc="9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are given to the landlord after</a:t>
            </a:r>
            <a:r>
              <a:rPr sz="2100" kern="0" spc="19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9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bidding.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marL="287655" algn="l" rtl="0" eaLnBrk="0">
              <a:lnSpc>
                <a:spcPct val="69000"/>
              </a:lnSpc>
              <a:spcBef>
                <a:spcPts val="1520"/>
              </a:spcBef>
            </a:pPr>
            <a:r>
              <a:rPr sz="2600" kern="0" spc="8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r>
              <a:rPr sz="2600" kern="0" spc="58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100" kern="0" spc="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The landlord plays</a:t>
            </a:r>
            <a:r>
              <a:rPr sz="2100" kern="0" spc="11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alone with</a:t>
            </a:r>
            <a:r>
              <a:rPr sz="2100" kern="0" spc="16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b="1" kern="0" spc="8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20</a:t>
            </a:r>
            <a:r>
              <a:rPr sz="2100" kern="0" spc="7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b="1" kern="0" spc="7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cards</a:t>
            </a:r>
            <a:r>
              <a:rPr sz="2100" kern="0" spc="7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algn="l" rtl="0" eaLnBrk="0">
              <a:lnSpc>
                <a:spcPct val="108000"/>
              </a:lnSpc>
            </a:pPr>
            <a:endParaRPr sz="12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7655" algn="l" rtl="0" eaLnBrk="0">
              <a:lnSpc>
                <a:spcPct val="70000"/>
              </a:lnSpc>
            </a:pPr>
            <a:r>
              <a:rPr sz="2600" kern="0" spc="9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r>
              <a:rPr sz="2600" kern="0" spc="58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100" kern="0" spc="9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The two farme</a:t>
            </a:r>
            <a:r>
              <a:rPr sz="2100" kern="0" spc="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rs cooperate as one side.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36" name="textbox 36"/>
          <p:cNvSpPr/>
          <p:nvPr/>
        </p:nvSpPr>
        <p:spPr>
          <a:xfrm>
            <a:off x="288823" y="6406769"/>
            <a:ext cx="11630660" cy="237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7000"/>
              </a:lnSpc>
            </a:pPr>
            <a:r>
              <a:rPr sz="1300" kern="0" spc="6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Fight the landlord</a:t>
            </a:r>
            <a:r>
              <a:rPr sz="1300" kern="0" spc="1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                       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                                                                                                                                                                                                  </a:t>
            </a:r>
            <a:r>
              <a:rPr sz="1800" kern="0" spc="60" dirty="0">
                <a:solidFill>
                  <a:srgbClr val="777777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4</a:t>
            </a:r>
            <a:endParaRPr sz="18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38" name="textbox 38"/>
          <p:cNvSpPr/>
          <p:nvPr/>
        </p:nvSpPr>
        <p:spPr>
          <a:xfrm>
            <a:off x="280936" y="249066"/>
            <a:ext cx="1663065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CS</a:t>
            </a:r>
            <a:r>
              <a:rPr sz="1300" kern="0" spc="16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181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AI</a:t>
            </a:r>
            <a:r>
              <a:rPr sz="1300" kern="0" spc="14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Final</a:t>
            </a:r>
            <a:r>
              <a:rPr sz="1300" kern="0" spc="13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Project</a:t>
            </a:r>
            <a:endParaRPr sz="13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40"/>
          <p:cNvSpPr/>
          <p:nvPr/>
        </p:nvSpPr>
        <p:spPr>
          <a:xfrm>
            <a:off x="694580" y="968143"/>
            <a:ext cx="8632825" cy="50361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9845" algn="l" rtl="0" eaLnBrk="0">
              <a:lnSpc>
                <a:spcPct val="76000"/>
              </a:lnSpc>
            </a:pPr>
            <a:r>
              <a:rPr sz="3600" b="1" kern="0" spc="60" dirty="0">
                <a:solidFill>
                  <a:srgbClr val="1F618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GameRules</a:t>
            </a:r>
            <a:endParaRPr sz="3600" dirty="0">
              <a:latin typeface="Trebuchet MS" panose="020B0703020202090204"/>
              <a:ea typeface="Trebuchet MS" panose="020B0703020202090204"/>
              <a:cs typeface="Trebuchet MS" panose="020B0703020202090204"/>
            </a:endParaRPr>
          </a:p>
          <a:p>
            <a:pPr algn="l" rtl="0" eaLnBrk="0">
              <a:lnSpc>
                <a:spcPct val="14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6000"/>
              </a:lnSpc>
              <a:spcBef>
                <a:spcPts val="700"/>
              </a:spcBef>
            </a:pPr>
            <a:r>
              <a:rPr sz="2300" b="1" kern="0" spc="80" dirty="0">
                <a:solidFill>
                  <a:srgbClr val="27496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Advanced</a:t>
            </a:r>
            <a:r>
              <a:rPr sz="2300" kern="0" spc="80" dirty="0">
                <a:solidFill>
                  <a:srgbClr val="27496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300" b="1" kern="0" spc="80" dirty="0">
                <a:solidFill>
                  <a:srgbClr val="27496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Comb</a:t>
            </a:r>
            <a:r>
              <a:rPr sz="2300" b="1" kern="0" spc="70" dirty="0">
                <a:solidFill>
                  <a:srgbClr val="27496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inations</a:t>
            </a:r>
            <a:endParaRPr sz="2300" dirty="0">
              <a:latin typeface="Trebuchet MS" panose="020B0703020202090204"/>
              <a:ea typeface="Trebuchet MS" panose="020B0703020202090204"/>
              <a:cs typeface="Trebuchet MS" panose="020B0703020202090204"/>
            </a:endParaRPr>
          </a:p>
          <a:p>
            <a:pPr marL="305435" algn="l" rtl="0" eaLnBrk="0">
              <a:lnSpc>
                <a:spcPct val="69000"/>
              </a:lnSpc>
              <a:spcBef>
                <a:spcPts val="1960"/>
              </a:spcBef>
            </a:pPr>
            <a:r>
              <a:rPr sz="2600" kern="0" spc="6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r>
              <a:rPr sz="2600" kern="0" spc="66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100" b="1" kern="0" spc="6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Single:</a:t>
            </a:r>
            <a:r>
              <a:rPr sz="2100" kern="0" spc="6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kern="0" spc="6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one card, such</a:t>
            </a:r>
            <a:r>
              <a:rPr sz="2100" kern="0" spc="1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6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as</a:t>
            </a:r>
            <a:r>
              <a:rPr sz="2100" kern="0" spc="11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6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7</a:t>
            </a:r>
            <a:r>
              <a:rPr sz="2100" kern="0" spc="5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marL="400685" algn="l" rtl="0" eaLnBrk="0">
              <a:lnSpc>
                <a:spcPct val="77000"/>
              </a:lnSpc>
              <a:spcBef>
                <a:spcPts val="1505"/>
              </a:spcBef>
              <a:tabLst>
                <a:tab pos="586105" algn="l"/>
              </a:tabLst>
            </a:pP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	</a:t>
            </a:r>
            <a:r>
              <a:rPr sz="2100" b="1" kern="0" spc="8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Pair:</a:t>
            </a:r>
            <a:r>
              <a:rPr sz="2100" kern="0" spc="8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kern="0" spc="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two car</a:t>
            </a:r>
            <a:r>
              <a:rPr sz="2100" kern="0" spc="7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ds of the same rank, such</a:t>
            </a:r>
            <a:r>
              <a:rPr sz="2100" kern="0" spc="1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7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as</a:t>
            </a:r>
            <a:r>
              <a:rPr sz="2100" kern="0" spc="1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7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8-8.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marL="305435" algn="l" rtl="0" eaLnBrk="0">
              <a:lnSpc>
                <a:spcPct val="69000"/>
              </a:lnSpc>
              <a:spcBef>
                <a:spcPts val="1740"/>
              </a:spcBef>
            </a:pPr>
            <a:r>
              <a:rPr sz="2600" kern="0" spc="7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r>
              <a:rPr sz="2600" kern="0" spc="58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100" b="1" kern="0" spc="7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Triple:</a:t>
            </a:r>
            <a:r>
              <a:rPr sz="2100" kern="0" spc="7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kern="0" spc="7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three cards of the same rank, such</a:t>
            </a:r>
            <a:r>
              <a:rPr sz="2100" kern="0" spc="1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7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as</a:t>
            </a:r>
            <a:r>
              <a:rPr sz="2100" kern="0" spc="1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6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5-5-5.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marL="400685" algn="l" rtl="0" eaLnBrk="0">
              <a:lnSpc>
                <a:spcPct val="86000"/>
              </a:lnSpc>
              <a:spcBef>
                <a:spcPts val="1620"/>
              </a:spcBef>
              <a:tabLst>
                <a:tab pos="567690" algn="l"/>
              </a:tabLst>
            </a:pP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	</a:t>
            </a:r>
            <a:r>
              <a:rPr sz="2100" b="1" kern="0" spc="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Triple</a:t>
            </a:r>
            <a:r>
              <a:rPr sz="2100" kern="0" spc="19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b="1" kern="0" spc="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with</a:t>
            </a:r>
            <a:r>
              <a:rPr sz="2100" kern="0" spc="19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b="1" kern="0" spc="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one</a:t>
            </a:r>
            <a:r>
              <a:rPr sz="2100" b="1" kern="0" spc="19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:</a:t>
            </a:r>
            <a:r>
              <a:rPr sz="2100" kern="0" spc="19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three</a:t>
            </a:r>
            <a:r>
              <a:rPr sz="2100" kern="0" spc="19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cards</a:t>
            </a:r>
            <a:r>
              <a:rPr sz="2100" kern="0" spc="19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plus</a:t>
            </a:r>
            <a:r>
              <a:rPr sz="2100" kern="0" spc="19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one</a:t>
            </a:r>
            <a:r>
              <a:rPr sz="2100" kern="0" spc="19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extra</a:t>
            </a:r>
            <a:r>
              <a:rPr sz="2100" kern="0" spc="19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card</a:t>
            </a:r>
            <a:r>
              <a:rPr sz="2100" kern="0" spc="19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, </a:t>
            </a: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such</a:t>
            </a:r>
            <a:r>
              <a:rPr sz="2100" kern="0" spc="1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as</a:t>
            </a:r>
            <a:r>
              <a:rPr sz="2100" kern="0" spc="1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19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5-5-5</a:t>
            </a:r>
            <a:r>
              <a:rPr sz="2100" kern="0" spc="25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19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+</a:t>
            </a:r>
            <a:r>
              <a:rPr sz="2100" kern="0" spc="11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19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9.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marL="305435" indent="95250" algn="l" rtl="0" eaLnBrk="0">
              <a:lnSpc>
                <a:spcPct val="106000"/>
              </a:lnSpc>
              <a:spcBef>
                <a:spcPts val="1485"/>
              </a:spcBef>
              <a:tabLst>
                <a:tab pos="567690" algn="l"/>
              </a:tabLst>
            </a:pP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	</a:t>
            </a:r>
            <a:r>
              <a:rPr sz="2100" b="1" kern="0" spc="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Triple</a:t>
            </a:r>
            <a:r>
              <a:rPr sz="2100" kern="0" spc="18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b="1" kern="0" spc="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with</a:t>
            </a:r>
            <a:r>
              <a:rPr sz="2100" kern="0" spc="18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b="1" kern="0" spc="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pair</a:t>
            </a:r>
            <a:r>
              <a:rPr sz="2100" b="1" kern="0" spc="18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:</a:t>
            </a:r>
            <a:r>
              <a:rPr sz="2100" kern="0" spc="18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three</a:t>
            </a:r>
            <a:r>
              <a:rPr sz="2100" kern="0" spc="1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cards</a:t>
            </a:r>
            <a:r>
              <a:rPr sz="2100" kern="0" spc="1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plus</a:t>
            </a:r>
            <a:r>
              <a:rPr sz="2100" kern="0" spc="1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one</a:t>
            </a:r>
            <a:r>
              <a:rPr sz="2100" kern="0" spc="1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pair</a:t>
            </a:r>
            <a:r>
              <a:rPr sz="2100" kern="0" spc="1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,</a:t>
            </a:r>
            <a:r>
              <a:rPr sz="2100" kern="0" spc="14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such</a:t>
            </a:r>
            <a:r>
              <a:rPr sz="2100" kern="0" spc="1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as</a:t>
            </a:r>
            <a:r>
              <a:rPr sz="2100" kern="0" spc="19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1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5-5-5</a:t>
            </a:r>
            <a:r>
              <a:rPr sz="2100" kern="0" spc="25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1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+</a:t>
            </a:r>
            <a:r>
              <a:rPr sz="2100" kern="0" spc="1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1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9-9.</a:t>
            </a: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      </a:t>
            </a:r>
            <a:r>
              <a:rPr sz="2600" kern="0" spc="90" dirty="0">
                <a:solidFill>
                  <a:srgbClr val="172032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r>
              <a:rPr sz="2600" kern="0" spc="660" dirty="0">
                <a:solidFill>
                  <a:srgbClr val="172032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100" b="1" kern="0" spc="9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Straight:</a:t>
            </a:r>
            <a:r>
              <a:rPr sz="2100" kern="0" spc="9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kern="0" spc="9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consecutive single cards, such as 3-4</a:t>
            </a:r>
            <a:r>
              <a:rPr sz="2100" kern="0" spc="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-5-6-7.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marL="400685" algn="l" rtl="0" eaLnBrk="0">
              <a:lnSpc>
                <a:spcPct val="76000"/>
              </a:lnSpc>
              <a:spcBef>
                <a:spcPts val="1360"/>
              </a:spcBef>
              <a:tabLst>
                <a:tab pos="586105" algn="l"/>
              </a:tabLst>
            </a:pP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	</a:t>
            </a:r>
            <a:r>
              <a:rPr sz="2100" b="1" kern="0" spc="8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Bomb:</a:t>
            </a:r>
            <a:r>
              <a:rPr sz="2100" kern="0" spc="8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kern="0" spc="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four cards of the sam</a:t>
            </a:r>
            <a:r>
              <a:rPr sz="2100" kern="0" spc="7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e rank.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algn="l" rtl="0" eaLnBrk="0">
              <a:lnSpc>
                <a:spcPct val="104000"/>
              </a:lnSpc>
            </a:pPr>
            <a:endParaRPr sz="15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05435" algn="l" rtl="0" eaLnBrk="0">
              <a:lnSpc>
                <a:spcPct val="69000"/>
              </a:lnSpc>
              <a:spcBef>
                <a:spcPts val="0"/>
              </a:spcBef>
            </a:pPr>
            <a:r>
              <a:rPr sz="2600" kern="0" spc="6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r>
              <a:rPr sz="2600" kern="0" spc="1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</a:t>
            </a:r>
            <a:r>
              <a:rPr sz="2100" b="1" kern="0" spc="6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Rocket:</a:t>
            </a:r>
            <a:r>
              <a:rPr sz="2100" kern="0" spc="6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kern="0" spc="6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Big Joker</a:t>
            </a:r>
            <a:r>
              <a:rPr sz="2100" kern="0" spc="27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6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+ Small Joker.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00124" y="5305425"/>
            <a:ext cx="95250" cy="9525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00124" y="4371975"/>
            <a:ext cx="95250" cy="9525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00124" y="3905250"/>
            <a:ext cx="95250" cy="9525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00124" y="2962275"/>
            <a:ext cx="95250" cy="95250"/>
          </a:xfrm>
          <a:prstGeom prst="rect">
            <a:avLst/>
          </a:prstGeom>
        </p:spPr>
      </p:pic>
      <p:sp>
        <p:nvSpPr>
          <p:cNvPr id="50" name="textbox 50"/>
          <p:cNvSpPr/>
          <p:nvPr/>
        </p:nvSpPr>
        <p:spPr>
          <a:xfrm>
            <a:off x="288823" y="6406769"/>
            <a:ext cx="11630660" cy="237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7000"/>
              </a:lnSpc>
            </a:pPr>
            <a:r>
              <a:rPr sz="1300" kern="0" spc="6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Fight the landlord</a:t>
            </a:r>
            <a:r>
              <a:rPr sz="1300" kern="0" spc="1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                              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                                                                                                                                                                                           </a:t>
            </a:r>
            <a:r>
              <a:rPr sz="1800" kern="0" spc="60" dirty="0">
                <a:solidFill>
                  <a:srgbClr val="777777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5</a:t>
            </a:r>
            <a:endParaRPr sz="18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280936" y="249066"/>
            <a:ext cx="1663065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CS</a:t>
            </a:r>
            <a:r>
              <a:rPr sz="1300" kern="0" spc="16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181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AI</a:t>
            </a:r>
            <a:r>
              <a:rPr sz="1300" kern="0" spc="14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Final</a:t>
            </a:r>
            <a:r>
              <a:rPr sz="1300" kern="0" spc="13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Project</a:t>
            </a:r>
            <a:endParaRPr sz="13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box 54"/>
          <p:cNvSpPr/>
          <p:nvPr/>
        </p:nvSpPr>
        <p:spPr>
          <a:xfrm>
            <a:off x="708557" y="1434868"/>
            <a:ext cx="6119495" cy="4092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5875" algn="l" rtl="0" eaLnBrk="0">
              <a:lnSpc>
                <a:spcPct val="76000"/>
              </a:lnSpc>
            </a:pPr>
            <a:r>
              <a:rPr sz="3600" b="1" kern="0" spc="60" dirty="0">
                <a:solidFill>
                  <a:srgbClr val="1F618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GameRules</a:t>
            </a:r>
            <a:endParaRPr sz="3600" dirty="0">
              <a:latin typeface="Trebuchet MS" panose="020B0703020202090204"/>
              <a:ea typeface="Trebuchet MS" panose="020B0703020202090204"/>
              <a:cs typeface="Trebuchet MS" panose="020B0703020202090204"/>
            </a:endParaRPr>
          </a:p>
          <a:p>
            <a:pPr algn="l" rtl="0" eaLnBrk="0">
              <a:lnSpc>
                <a:spcPct val="14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4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4000"/>
              </a:lnSpc>
              <a:spcBef>
                <a:spcPts val="695"/>
              </a:spcBef>
            </a:pPr>
            <a:r>
              <a:rPr sz="2300" b="1" kern="0" spc="40" dirty="0">
                <a:solidFill>
                  <a:srgbClr val="27496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Scores</a:t>
            </a:r>
            <a:endParaRPr sz="2300" dirty="0">
              <a:latin typeface="Trebuchet MS" panose="020B0703020202090204"/>
              <a:ea typeface="Trebuchet MS" panose="020B0703020202090204"/>
              <a:cs typeface="Trebuchet MS" panose="020B0703020202090204"/>
            </a:endParaRPr>
          </a:p>
          <a:p>
            <a:pPr algn="r" rtl="0" eaLnBrk="0">
              <a:lnSpc>
                <a:spcPct val="69000"/>
              </a:lnSpc>
              <a:spcBef>
                <a:spcPts val="1935"/>
              </a:spcBef>
            </a:pPr>
            <a:r>
              <a:rPr sz="2600" kern="0" spc="21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r>
              <a:rPr sz="2600" kern="0" spc="59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At</a:t>
            </a:r>
            <a:r>
              <a:rPr sz="2100" kern="0" spc="21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the</a:t>
            </a:r>
            <a:r>
              <a:rPr sz="2100" kern="0" spc="21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beginning</a:t>
            </a:r>
            <a:r>
              <a:rPr sz="2100" kern="0" spc="21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, </a:t>
            </a: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players</a:t>
            </a:r>
            <a:r>
              <a:rPr sz="2100" kern="0" spc="1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bid</a:t>
            </a:r>
            <a:r>
              <a:rPr sz="2100" kern="0" spc="14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b="1" kern="0" spc="21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1,</a:t>
            </a:r>
            <a:r>
              <a:rPr sz="2100" kern="0" spc="21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b="1" kern="0" spc="21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2,</a:t>
            </a:r>
            <a:r>
              <a:rPr sz="2100" kern="0" spc="21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b="1" kern="0" spc="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or</a:t>
            </a:r>
            <a:r>
              <a:rPr sz="2100" kern="0" spc="9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b="1" kern="0" spc="21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3</a:t>
            </a:r>
            <a:r>
              <a:rPr sz="2100" kern="0" spc="12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b="1" kern="0" spc="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points</a:t>
            </a:r>
            <a:r>
              <a:rPr sz="2100" kern="0" spc="21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marL="291465" algn="l" rtl="0" eaLnBrk="0">
              <a:lnSpc>
                <a:spcPts val="3675"/>
              </a:lnSpc>
            </a:pPr>
            <a:r>
              <a:rPr sz="2600" kern="0" spc="10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r>
              <a:rPr sz="2600" kern="0" spc="65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100" kern="0" spc="1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The highest bidder</a:t>
            </a:r>
            <a:r>
              <a:rPr sz="2100" kern="0" spc="1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1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becomes the</a:t>
            </a:r>
            <a:r>
              <a:rPr sz="2100" kern="0" spc="19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1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landlord.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marL="386715" algn="l" rtl="0" eaLnBrk="0">
              <a:lnSpc>
                <a:spcPct val="71000"/>
              </a:lnSpc>
              <a:spcBef>
                <a:spcPts val="1610"/>
              </a:spcBef>
              <a:tabLst>
                <a:tab pos="553720" algn="l"/>
              </a:tabLst>
            </a:pP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	</a:t>
            </a:r>
            <a:r>
              <a:rPr sz="2100" kern="0" spc="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The bid</a:t>
            </a:r>
            <a:r>
              <a:rPr sz="2100" kern="0" spc="16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is the</a:t>
            </a:r>
            <a:r>
              <a:rPr sz="2100" kern="0" spc="1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base</a:t>
            </a:r>
            <a:r>
              <a:rPr sz="2100" kern="0" spc="12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score.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91465" algn="l" rtl="0" eaLnBrk="0">
              <a:lnSpc>
                <a:spcPct val="85000"/>
              </a:lnSpc>
              <a:spcBef>
                <a:spcPts val="635"/>
              </a:spcBef>
            </a:pPr>
            <a:r>
              <a:rPr sz="2100" kern="0" spc="8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</a:t>
            </a:r>
            <a:r>
              <a:rPr sz="2100" kern="0" spc="8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</a:t>
            </a:r>
            <a:r>
              <a:rPr sz="2100" kern="0" spc="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Each</a:t>
            </a:r>
            <a:r>
              <a:rPr sz="2100" kern="0" spc="1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bomb</a:t>
            </a:r>
            <a:r>
              <a:rPr sz="2100" kern="0" spc="11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doubles the</a:t>
            </a:r>
            <a:r>
              <a:rPr sz="2100" kern="0" spc="12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sco</a:t>
            </a:r>
            <a:r>
              <a:rPr sz="2100" kern="0" spc="7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re:</a:t>
            </a:r>
            <a:r>
              <a:rPr sz="2100" kern="0" spc="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   </a:t>
            </a:r>
            <a:r>
              <a:rPr sz="2100" kern="0" spc="7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r>
              <a:rPr sz="2100" kern="0" spc="7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marL="291465" algn="l" rtl="0" eaLnBrk="0">
              <a:lnSpc>
                <a:spcPct val="76000"/>
              </a:lnSpc>
              <a:spcBef>
                <a:spcPts val="1545"/>
              </a:spcBef>
            </a:pPr>
            <a:r>
              <a:rPr sz="1400" kern="0" spc="-660" dirty="0">
                <a:solidFill>
                  <a:srgbClr val="172033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●</a:t>
            </a:r>
            <a:r>
              <a:rPr sz="1400" kern="0" spc="180" dirty="0">
                <a:solidFill>
                  <a:srgbClr val="172033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</a:t>
            </a:r>
            <a:r>
              <a:rPr sz="2100" kern="0" spc="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A rocket also doubles the</a:t>
            </a:r>
            <a:r>
              <a:rPr sz="2100" kern="0" spc="12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score:    </a:t>
            </a:r>
            <a:r>
              <a:rPr sz="1400" kern="0" spc="8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r>
              <a:rPr sz="1400" kern="0" spc="-13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100" kern="0" spc="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algn="l" rtl="0" eaLnBrk="0">
              <a:lnSpc>
                <a:spcPct val="105000"/>
              </a:lnSpc>
            </a:pPr>
            <a:endParaRPr sz="14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91465" algn="l" rtl="0" eaLnBrk="0">
              <a:lnSpc>
                <a:spcPct val="69000"/>
              </a:lnSpc>
            </a:pPr>
            <a:r>
              <a:rPr sz="2600" kern="0" spc="80" dirty="0">
                <a:solidFill>
                  <a:srgbClr val="172032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r>
              <a:rPr sz="2600" kern="0" spc="10" dirty="0">
                <a:solidFill>
                  <a:srgbClr val="172032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</a:t>
            </a:r>
            <a:r>
              <a:rPr sz="2100" kern="0" spc="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Final score</a:t>
            </a:r>
            <a:r>
              <a:rPr sz="2100" kern="0" spc="25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= base scor</a:t>
            </a:r>
            <a:r>
              <a:rPr sz="2100" kern="0" spc="7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e</a:t>
            </a:r>
            <a:r>
              <a:rPr sz="2100" kern="0" spc="6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    </a:t>
            </a:r>
            <a:r>
              <a:rPr sz="2100" kern="0" spc="7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all</a:t>
            </a:r>
            <a:r>
              <a:rPr sz="2100" kern="0" spc="1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7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multipliers.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pic>
        <p:nvPicPr>
          <p:cNvPr id="56" name="picture 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306251" y="5295900"/>
            <a:ext cx="150777" cy="150465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258169" y="4826707"/>
            <a:ext cx="150855" cy="150542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030573" y="4359982"/>
            <a:ext cx="150855" cy="150542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00124" y="3905250"/>
            <a:ext cx="95250" cy="95250"/>
          </a:xfrm>
          <a:prstGeom prst="rect">
            <a:avLst/>
          </a:prstGeom>
        </p:spPr>
      </p:pic>
      <p:sp>
        <p:nvSpPr>
          <p:cNvPr id="64" name="textbox 64"/>
          <p:cNvSpPr/>
          <p:nvPr/>
        </p:nvSpPr>
        <p:spPr>
          <a:xfrm>
            <a:off x="288823" y="6403797"/>
            <a:ext cx="11630660" cy="2406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300" kern="0" spc="6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Fight the landlord</a:t>
            </a:r>
            <a:r>
              <a:rPr sz="1300" kern="0" spc="1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                         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                                                                                                                                                                                                </a:t>
            </a:r>
            <a:r>
              <a:rPr sz="1800" kern="0" spc="60" dirty="0">
                <a:solidFill>
                  <a:srgbClr val="777777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6</a:t>
            </a:r>
            <a:endParaRPr sz="18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280936" y="249066"/>
            <a:ext cx="1663065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CS</a:t>
            </a:r>
            <a:r>
              <a:rPr sz="1300" kern="0" spc="16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181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AI</a:t>
            </a:r>
            <a:r>
              <a:rPr sz="1300" kern="0" spc="14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Final</a:t>
            </a:r>
            <a:r>
              <a:rPr sz="1300" kern="0" spc="13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Project</a:t>
            </a:r>
            <a:endParaRPr sz="13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8"/>
          <p:cNvSpPr/>
          <p:nvPr/>
        </p:nvSpPr>
        <p:spPr>
          <a:xfrm>
            <a:off x="704303" y="1111018"/>
            <a:ext cx="8660765" cy="4752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40640" algn="l" rtl="0" eaLnBrk="0">
              <a:lnSpc>
                <a:spcPct val="84000"/>
              </a:lnSpc>
            </a:pPr>
            <a:r>
              <a:rPr sz="3600" b="1" kern="0" spc="80" dirty="0">
                <a:solidFill>
                  <a:srgbClr val="1F618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Implementmethods</a:t>
            </a:r>
            <a:endParaRPr sz="3600" dirty="0">
              <a:latin typeface="Trebuchet MS" panose="020B0703020202090204"/>
              <a:ea typeface="Trebuchet MS" panose="020B0703020202090204"/>
              <a:cs typeface="Trebuchet MS" panose="020B0703020202090204"/>
            </a:endParaRPr>
          </a:p>
          <a:p>
            <a:pPr algn="l" rtl="0" eaLnBrk="0">
              <a:lnSpc>
                <a:spcPct val="123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6000"/>
              </a:lnSpc>
              <a:spcBef>
                <a:spcPts val="690"/>
              </a:spcBef>
            </a:pPr>
            <a:r>
              <a:rPr sz="2300" b="1" kern="0" spc="0" dirty="0">
                <a:solidFill>
                  <a:srgbClr val="27496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1.</a:t>
            </a:r>
            <a:r>
              <a:rPr sz="2300" kern="0" spc="0" dirty="0">
                <a:solidFill>
                  <a:srgbClr val="27496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300" b="1" kern="0" spc="0" dirty="0">
                <a:solidFill>
                  <a:srgbClr val="27496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Adversarial</a:t>
            </a:r>
            <a:r>
              <a:rPr sz="2300" kern="0" spc="0" dirty="0">
                <a:solidFill>
                  <a:srgbClr val="27496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300" b="1" kern="0" spc="0" dirty="0">
                <a:solidFill>
                  <a:srgbClr val="27496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S</a:t>
            </a:r>
            <a:r>
              <a:rPr sz="2300" b="1" kern="0" spc="-10" dirty="0">
                <a:solidFill>
                  <a:srgbClr val="27496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earch</a:t>
            </a:r>
            <a:endParaRPr sz="2300" dirty="0">
              <a:latin typeface="Trebuchet MS" panose="020B0703020202090204"/>
              <a:ea typeface="Trebuchet MS" panose="020B0703020202090204"/>
              <a:cs typeface="Trebuchet MS" panose="020B070302020209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90525" algn="l" rtl="0" eaLnBrk="0">
              <a:lnSpc>
                <a:spcPct val="85000"/>
              </a:lnSpc>
              <a:spcBef>
                <a:spcPts val="635"/>
              </a:spcBef>
              <a:tabLst>
                <a:tab pos="576580" algn="l"/>
              </a:tabLst>
            </a:pP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	</a:t>
            </a:r>
            <a:r>
              <a:rPr sz="2100" b="1" kern="0" spc="7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Minimax</a:t>
            </a:r>
            <a:r>
              <a:rPr sz="2100" kern="0" spc="7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b="1" kern="0" spc="7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Algorit</a:t>
            </a:r>
            <a:r>
              <a:rPr sz="2100" b="1" kern="0" spc="6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hm</a:t>
            </a:r>
            <a:endParaRPr sz="2100" dirty="0">
              <a:latin typeface="Trebuchet MS" panose="020B0703020202090204"/>
              <a:ea typeface="Trebuchet MS" panose="020B0703020202090204"/>
              <a:cs typeface="Trebuchet MS" panose="020B0703020202090204"/>
            </a:endParaRPr>
          </a:p>
          <a:p>
            <a:pPr marL="948055" algn="l" rtl="0" eaLnBrk="0">
              <a:lnSpc>
                <a:spcPct val="87000"/>
              </a:lnSpc>
              <a:spcBef>
                <a:spcPts val="995"/>
              </a:spcBef>
              <a:tabLst>
                <a:tab pos="1130300" algn="l"/>
              </a:tabLst>
            </a:pP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	</a:t>
            </a:r>
            <a:r>
              <a:rPr sz="2100" kern="0" spc="11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Model the landlord and farmers as two opposing</a:t>
            </a:r>
            <a:r>
              <a:rPr sz="2100" kern="0" spc="1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sides.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marL="390525" algn="l" rtl="0" eaLnBrk="0">
              <a:lnSpc>
                <a:spcPct val="85000"/>
              </a:lnSpc>
              <a:spcBef>
                <a:spcPts val="1560"/>
              </a:spcBef>
              <a:tabLst>
                <a:tab pos="576580" algn="l"/>
              </a:tabLst>
            </a:pP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	</a:t>
            </a:r>
            <a:r>
              <a:rPr sz="2100" b="1" kern="0" spc="3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Depth-limited</a:t>
            </a:r>
            <a:r>
              <a:rPr sz="2100" kern="0" spc="3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b="1" kern="0" spc="3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Ad</a:t>
            </a:r>
            <a:r>
              <a:rPr sz="2100" b="1" kern="0" spc="2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versarial</a:t>
            </a:r>
            <a:r>
              <a:rPr sz="2100" kern="0" spc="2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b="1" kern="0" spc="2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Search</a:t>
            </a:r>
            <a:endParaRPr sz="2100" dirty="0">
              <a:latin typeface="Trebuchet MS" panose="020B0703020202090204"/>
              <a:ea typeface="Trebuchet MS" panose="020B0703020202090204"/>
              <a:cs typeface="Trebuchet MS" panose="020B0703020202090204"/>
            </a:endParaRPr>
          </a:p>
          <a:p>
            <a:pPr marL="948055" algn="l" rtl="0" eaLnBrk="0">
              <a:lnSpc>
                <a:spcPct val="86000"/>
              </a:lnSpc>
              <a:spcBef>
                <a:spcPts val="1020"/>
              </a:spcBef>
              <a:tabLst>
                <a:tab pos="1130300" algn="l"/>
              </a:tabLst>
            </a:pP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	</a:t>
            </a:r>
            <a:r>
              <a:rPr sz="2100" kern="0" spc="1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Limit search depth </a:t>
            </a:r>
            <a:r>
              <a:rPr sz="2100" kern="0" spc="9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to reduce computation.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marL="390525" algn="l" rtl="0" eaLnBrk="0">
              <a:lnSpc>
                <a:spcPct val="76000"/>
              </a:lnSpc>
              <a:spcBef>
                <a:spcPts val="1495"/>
              </a:spcBef>
              <a:tabLst>
                <a:tab pos="576580" algn="l"/>
              </a:tabLst>
            </a:pP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	</a:t>
            </a:r>
            <a:r>
              <a:rPr sz="2100" b="1" kern="0" spc="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Heuristic</a:t>
            </a:r>
            <a:r>
              <a:rPr sz="2100" kern="0" spc="5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b="1" kern="0" spc="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State</a:t>
            </a:r>
            <a:r>
              <a:rPr sz="2100" kern="0" spc="5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b="1" kern="0" spc="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Evaluation</a:t>
            </a:r>
            <a:endParaRPr sz="2100" dirty="0">
              <a:latin typeface="Trebuchet MS" panose="020B0703020202090204"/>
              <a:ea typeface="Trebuchet MS" panose="020B0703020202090204"/>
              <a:cs typeface="Trebuchet MS" panose="020B0703020202090204"/>
            </a:endParaRPr>
          </a:p>
          <a:p>
            <a:pPr marL="295275" indent="652145" algn="l" rtl="0" eaLnBrk="0">
              <a:lnSpc>
                <a:spcPct val="117000"/>
              </a:lnSpc>
              <a:spcBef>
                <a:spcPts val="1240"/>
              </a:spcBef>
              <a:tabLst>
                <a:tab pos="1130300" algn="l"/>
              </a:tabLst>
            </a:pP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	</a:t>
            </a:r>
            <a:r>
              <a:rPr sz="2100" kern="0" spc="11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Evaluate hand strength, remaining ca</a:t>
            </a:r>
            <a:r>
              <a:rPr sz="2100" kern="0" spc="1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rds, and possible control.</a:t>
            </a: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000" kern="0" spc="4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r>
              <a:rPr sz="2000" kern="0" spc="17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</a:t>
            </a:r>
            <a:r>
              <a:rPr sz="2100" b="1" kern="0" spc="4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Expectimax</a:t>
            </a:r>
            <a:r>
              <a:rPr sz="2100" kern="0" spc="4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b="1" kern="0" spc="4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Algorit</a:t>
            </a:r>
            <a:r>
              <a:rPr sz="2100" b="1" kern="0" spc="3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hm</a:t>
            </a:r>
            <a:endParaRPr sz="2100" dirty="0">
              <a:latin typeface="Trebuchet MS" panose="020B0703020202090204"/>
              <a:ea typeface="Trebuchet MS" panose="020B0703020202090204"/>
              <a:cs typeface="Trebuchet MS" panose="020B0703020202090204"/>
            </a:endParaRPr>
          </a:p>
          <a:p>
            <a:pPr algn="l" rtl="0" eaLnBrk="0">
              <a:lnSpc>
                <a:spcPct val="109000"/>
              </a:lnSpc>
            </a:pPr>
            <a:endParaRPr sz="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948055" algn="l" rtl="0" eaLnBrk="0">
              <a:lnSpc>
                <a:spcPct val="87000"/>
              </a:lnSpc>
              <a:spcBef>
                <a:spcPts val="5"/>
              </a:spcBef>
              <a:tabLst>
                <a:tab pos="1117600" algn="l"/>
              </a:tabLst>
            </a:pP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	</a:t>
            </a:r>
            <a:r>
              <a:rPr sz="2100" kern="0" spc="1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Consider uncertainty from hidden opponen</a:t>
            </a:r>
            <a:r>
              <a:rPr sz="2100" kern="0" spc="9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t cards.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70" name="path 70"/>
          <p:cNvSpPr/>
          <p:nvPr/>
        </p:nvSpPr>
        <p:spPr>
          <a:xfrm>
            <a:off x="1547812" y="5634037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65" h="165">
                <a:moveTo>
                  <a:pt x="157" y="82"/>
                </a:moveTo>
                <a:cubicBezTo>
                  <a:pt x="157" y="92"/>
                  <a:pt x="155" y="102"/>
                  <a:pt x="151" y="111"/>
                </a:cubicBezTo>
                <a:cubicBezTo>
                  <a:pt x="147" y="120"/>
                  <a:pt x="142" y="128"/>
                  <a:pt x="135" y="135"/>
                </a:cubicBezTo>
                <a:cubicBezTo>
                  <a:pt x="128" y="142"/>
                  <a:pt x="120" y="147"/>
                  <a:pt x="111" y="151"/>
                </a:cubicBezTo>
                <a:cubicBezTo>
                  <a:pt x="102" y="155"/>
                  <a:pt x="92" y="157"/>
                  <a:pt x="82" y="157"/>
                </a:cubicBezTo>
                <a:cubicBezTo>
                  <a:pt x="72" y="157"/>
                  <a:pt x="62" y="155"/>
                  <a:pt x="53" y="151"/>
                </a:cubicBezTo>
                <a:cubicBezTo>
                  <a:pt x="44" y="147"/>
                  <a:pt x="36" y="142"/>
                  <a:pt x="29" y="135"/>
                </a:cubicBezTo>
                <a:cubicBezTo>
                  <a:pt x="22" y="128"/>
                  <a:pt x="17" y="120"/>
                  <a:pt x="13" y="111"/>
                </a:cubicBezTo>
                <a:cubicBezTo>
                  <a:pt x="9" y="102"/>
                  <a:pt x="7" y="92"/>
                  <a:pt x="7" y="82"/>
                </a:cubicBezTo>
                <a:cubicBezTo>
                  <a:pt x="7" y="72"/>
                  <a:pt x="9" y="62"/>
                  <a:pt x="13" y="53"/>
                </a:cubicBezTo>
                <a:cubicBezTo>
                  <a:pt x="17" y="44"/>
                  <a:pt x="22" y="36"/>
                  <a:pt x="29" y="29"/>
                </a:cubicBezTo>
                <a:cubicBezTo>
                  <a:pt x="36" y="22"/>
                  <a:pt x="44" y="17"/>
                  <a:pt x="53" y="13"/>
                </a:cubicBezTo>
                <a:cubicBezTo>
                  <a:pt x="62" y="9"/>
                  <a:pt x="72" y="7"/>
                  <a:pt x="82" y="7"/>
                </a:cubicBezTo>
                <a:cubicBezTo>
                  <a:pt x="92" y="7"/>
                  <a:pt x="102" y="9"/>
                  <a:pt x="111" y="13"/>
                </a:cubicBezTo>
                <a:cubicBezTo>
                  <a:pt x="120" y="17"/>
                  <a:pt x="128" y="22"/>
                  <a:pt x="135" y="29"/>
                </a:cubicBezTo>
                <a:cubicBezTo>
                  <a:pt x="142" y="36"/>
                  <a:pt x="147" y="44"/>
                  <a:pt x="151" y="53"/>
                </a:cubicBezTo>
                <a:cubicBezTo>
                  <a:pt x="155" y="62"/>
                  <a:pt x="157" y="72"/>
                  <a:pt x="157" y="82"/>
                </a:cubicBezTo>
              </a:path>
            </a:pathLst>
          </a:custGeom>
          <a:noFill/>
          <a:ln w="9525" cap="flat">
            <a:solidFill>
              <a:srgbClr val="17203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2" name="path 72"/>
          <p:cNvSpPr/>
          <p:nvPr/>
        </p:nvSpPr>
        <p:spPr>
          <a:xfrm>
            <a:off x="1547812" y="4767262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65" h="165">
                <a:moveTo>
                  <a:pt x="157" y="82"/>
                </a:moveTo>
                <a:cubicBezTo>
                  <a:pt x="157" y="92"/>
                  <a:pt x="155" y="102"/>
                  <a:pt x="151" y="111"/>
                </a:cubicBezTo>
                <a:cubicBezTo>
                  <a:pt x="147" y="120"/>
                  <a:pt x="142" y="128"/>
                  <a:pt x="135" y="135"/>
                </a:cubicBezTo>
                <a:cubicBezTo>
                  <a:pt x="128" y="142"/>
                  <a:pt x="120" y="147"/>
                  <a:pt x="111" y="151"/>
                </a:cubicBezTo>
                <a:cubicBezTo>
                  <a:pt x="102" y="155"/>
                  <a:pt x="92" y="157"/>
                  <a:pt x="82" y="157"/>
                </a:cubicBezTo>
                <a:cubicBezTo>
                  <a:pt x="72" y="157"/>
                  <a:pt x="62" y="155"/>
                  <a:pt x="53" y="151"/>
                </a:cubicBezTo>
                <a:cubicBezTo>
                  <a:pt x="44" y="147"/>
                  <a:pt x="36" y="142"/>
                  <a:pt x="29" y="135"/>
                </a:cubicBezTo>
                <a:cubicBezTo>
                  <a:pt x="22" y="128"/>
                  <a:pt x="17" y="120"/>
                  <a:pt x="13" y="111"/>
                </a:cubicBezTo>
                <a:cubicBezTo>
                  <a:pt x="9" y="102"/>
                  <a:pt x="7" y="92"/>
                  <a:pt x="7" y="82"/>
                </a:cubicBezTo>
                <a:cubicBezTo>
                  <a:pt x="7" y="72"/>
                  <a:pt x="9" y="62"/>
                  <a:pt x="13" y="53"/>
                </a:cubicBezTo>
                <a:cubicBezTo>
                  <a:pt x="17" y="44"/>
                  <a:pt x="22" y="36"/>
                  <a:pt x="29" y="29"/>
                </a:cubicBezTo>
                <a:cubicBezTo>
                  <a:pt x="36" y="22"/>
                  <a:pt x="44" y="17"/>
                  <a:pt x="53" y="13"/>
                </a:cubicBezTo>
                <a:cubicBezTo>
                  <a:pt x="62" y="9"/>
                  <a:pt x="72" y="7"/>
                  <a:pt x="82" y="7"/>
                </a:cubicBezTo>
                <a:cubicBezTo>
                  <a:pt x="92" y="7"/>
                  <a:pt x="102" y="9"/>
                  <a:pt x="111" y="13"/>
                </a:cubicBezTo>
                <a:cubicBezTo>
                  <a:pt x="120" y="17"/>
                  <a:pt x="128" y="22"/>
                  <a:pt x="135" y="29"/>
                </a:cubicBezTo>
                <a:cubicBezTo>
                  <a:pt x="142" y="36"/>
                  <a:pt x="147" y="44"/>
                  <a:pt x="151" y="53"/>
                </a:cubicBezTo>
                <a:cubicBezTo>
                  <a:pt x="155" y="62"/>
                  <a:pt x="157" y="72"/>
                  <a:pt x="157" y="82"/>
                </a:cubicBezTo>
              </a:path>
            </a:pathLst>
          </a:custGeom>
          <a:noFill/>
          <a:ln w="9525" cap="flat">
            <a:solidFill>
              <a:srgbClr val="17203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74" name="picture 7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00124" y="4371975"/>
            <a:ext cx="95250" cy="95250"/>
          </a:xfrm>
          <a:prstGeom prst="rect">
            <a:avLst/>
          </a:prstGeom>
        </p:spPr>
      </p:pic>
      <p:sp>
        <p:nvSpPr>
          <p:cNvPr id="76" name="path 76"/>
          <p:cNvSpPr/>
          <p:nvPr/>
        </p:nvSpPr>
        <p:spPr>
          <a:xfrm>
            <a:off x="1547812" y="3900487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65" h="165">
                <a:moveTo>
                  <a:pt x="157" y="82"/>
                </a:moveTo>
                <a:cubicBezTo>
                  <a:pt x="157" y="92"/>
                  <a:pt x="155" y="102"/>
                  <a:pt x="151" y="111"/>
                </a:cubicBezTo>
                <a:cubicBezTo>
                  <a:pt x="147" y="120"/>
                  <a:pt x="142" y="128"/>
                  <a:pt x="135" y="135"/>
                </a:cubicBezTo>
                <a:cubicBezTo>
                  <a:pt x="128" y="142"/>
                  <a:pt x="120" y="147"/>
                  <a:pt x="111" y="151"/>
                </a:cubicBezTo>
                <a:cubicBezTo>
                  <a:pt x="102" y="155"/>
                  <a:pt x="92" y="157"/>
                  <a:pt x="82" y="157"/>
                </a:cubicBezTo>
                <a:cubicBezTo>
                  <a:pt x="72" y="157"/>
                  <a:pt x="62" y="155"/>
                  <a:pt x="53" y="151"/>
                </a:cubicBezTo>
                <a:cubicBezTo>
                  <a:pt x="44" y="147"/>
                  <a:pt x="36" y="142"/>
                  <a:pt x="29" y="135"/>
                </a:cubicBezTo>
                <a:cubicBezTo>
                  <a:pt x="22" y="128"/>
                  <a:pt x="17" y="120"/>
                  <a:pt x="13" y="111"/>
                </a:cubicBezTo>
                <a:cubicBezTo>
                  <a:pt x="9" y="102"/>
                  <a:pt x="7" y="92"/>
                  <a:pt x="7" y="82"/>
                </a:cubicBezTo>
                <a:cubicBezTo>
                  <a:pt x="7" y="72"/>
                  <a:pt x="9" y="62"/>
                  <a:pt x="13" y="53"/>
                </a:cubicBezTo>
                <a:cubicBezTo>
                  <a:pt x="17" y="44"/>
                  <a:pt x="22" y="36"/>
                  <a:pt x="29" y="29"/>
                </a:cubicBezTo>
                <a:cubicBezTo>
                  <a:pt x="36" y="22"/>
                  <a:pt x="44" y="17"/>
                  <a:pt x="53" y="13"/>
                </a:cubicBezTo>
                <a:cubicBezTo>
                  <a:pt x="62" y="9"/>
                  <a:pt x="72" y="7"/>
                  <a:pt x="82" y="7"/>
                </a:cubicBezTo>
                <a:cubicBezTo>
                  <a:pt x="92" y="7"/>
                  <a:pt x="102" y="9"/>
                  <a:pt x="111" y="13"/>
                </a:cubicBezTo>
                <a:cubicBezTo>
                  <a:pt x="120" y="17"/>
                  <a:pt x="128" y="22"/>
                  <a:pt x="135" y="29"/>
                </a:cubicBezTo>
                <a:cubicBezTo>
                  <a:pt x="142" y="36"/>
                  <a:pt x="147" y="44"/>
                  <a:pt x="151" y="53"/>
                </a:cubicBezTo>
                <a:cubicBezTo>
                  <a:pt x="155" y="62"/>
                  <a:pt x="157" y="72"/>
                  <a:pt x="157" y="82"/>
                </a:cubicBezTo>
              </a:path>
            </a:pathLst>
          </a:custGeom>
          <a:noFill/>
          <a:ln w="9525" cap="flat">
            <a:solidFill>
              <a:srgbClr val="17203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78" name="picture 7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00124" y="3505200"/>
            <a:ext cx="95250" cy="95250"/>
          </a:xfrm>
          <a:prstGeom prst="rect">
            <a:avLst/>
          </a:prstGeom>
        </p:spPr>
      </p:pic>
      <p:sp>
        <p:nvSpPr>
          <p:cNvPr id="80" name="path 80"/>
          <p:cNvSpPr/>
          <p:nvPr/>
        </p:nvSpPr>
        <p:spPr>
          <a:xfrm>
            <a:off x="1547812" y="3024187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65" h="165">
                <a:moveTo>
                  <a:pt x="157" y="82"/>
                </a:moveTo>
                <a:cubicBezTo>
                  <a:pt x="157" y="92"/>
                  <a:pt x="155" y="102"/>
                  <a:pt x="151" y="111"/>
                </a:cubicBezTo>
                <a:cubicBezTo>
                  <a:pt x="147" y="120"/>
                  <a:pt x="142" y="128"/>
                  <a:pt x="135" y="135"/>
                </a:cubicBezTo>
                <a:cubicBezTo>
                  <a:pt x="128" y="142"/>
                  <a:pt x="120" y="147"/>
                  <a:pt x="111" y="151"/>
                </a:cubicBezTo>
                <a:cubicBezTo>
                  <a:pt x="102" y="155"/>
                  <a:pt x="92" y="157"/>
                  <a:pt x="82" y="157"/>
                </a:cubicBezTo>
                <a:cubicBezTo>
                  <a:pt x="72" y="157"/>
                  <a:pt x="62" y="155"/>
                  <a:pt x="53" y="151"/>
                </a:cubicBezTo>
                <a:cubicBezTo>
                  <a:pt x="44" y="147"/>
                  <a:pt x="36" y="142"/>
                  <a:pt x="29" y="135"/>
                </a:cubicBezTo>
                <a:cubicBezTo>
                  <a:pt x="22" y="128"/>
                  <a:pt x="17" y="120"/>
                  <a:pt x="13" y="111"/>
                </a:cubicBezTo>
                <a:cubicBezTo>
                  <a:pt x="9" y="102"/>
                  <a:pt x="7" y="92"/>
                  <a:pt x="7" y="82"/>
                </a:cubicBezTo>
                <a:cubicBezTo>
                  <a:pt x="7" y="72"/>
                  <a:pt x="9" y="62"/>
                  <a:pt x="13" y="53"/>
                </a:cubicBezTo>
                <a:cubicBezTo>
                  <a:pt x="17" y="44"/>
                  <a:pt x="22" y="36"/>
                  <a:pt x="29" y="29"/>
                </a:cubicBezTo>
                <a:cubicBezTo>
                  <a:pt x="36" y="22"/>
                  <a:pt x="44" y="17"/>
                  <a:pt x="53" y="13"/>
                </a:cubicBezTo>
                <a:cubicBezTo>
                  <a:pt x="62" y="9"/>
                  <a:pt x="72" y="7"/>
                  <a:pt x="82" y="7"/>
                </a:cubicBezTo>
                <a:cubicBezTo>
                  <a:pt x="92" y="7"/>
                  <a:pt x="102" y="9"/>
                  <a:pt x="111" y="13"/>
                </a:cubicBezTo>
                <a:cubicBezTo>
                  <a:pt x="120" y="17"/>
                  <a:pt x="128" y="22"/>
                  <a:pt x="135" y="29"/>
                </a:cubicBezTo>
                <a:cubicBezTo>
                  <a:pt x="142" y="36"/>
                  <a:pt x="147" y="44"/>
                  <a:pt x="151" y="53"/>
                </a:cubicBezTo>
                <a:cubicBezTo>
                  <a:pt x="155" y="62"/>
                  <a:pt x="157" y="72"/>
                  <a:pt x="157" y="82"/>
                </a:cubicBezTo>
              </a:path>
            </a:pathLst>
          </a:custGeom>
          <a:noFill/>
          <a:ln w="9525" cap="flat">
            <a:solidFill>
              <a:srgbClr val="17203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82" name="picture 8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00124" y="2628900"/>
            <a:ext cx="95250" cy="95250"/>
          </a:xfrm>
          <a:prstGeom prst="rect">
            <a:avLst/>
          </a:prstGeom>
        </p:spPr>
      </p:pic>
      <p:sp>
        <p:nvSpPr>
          <p:cNvPr id="84" name="textbox 84"/>
          <p:cNvSpPr/>
          <p:nvPr/>
        </p:nvSpPr>
        <p:spPr>
          <a:xfrm>
            <a:off x="288823" y="6406769"/>
            <a:ext cx="11630660" cy="237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7000"/>
              </a:lnSpc>
            </a:pPr>
            <a:r>
              <a:rPr sz="1300" kern="0" spc="6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Fight the landlord</a:t>
            </a:r>
            <a:r>
              <a:rPr sz="1300" kern="0" spc="1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                        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                                                                                                                                                                                                 </a:t>
            </a:r>
            <a:r>
              <a:rPr sz="1800" kern="0" spc="60" dirty="0">
                <a:solidFill>
                  <a:srgbClr val="777777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7</a:t>
            </a:r>
            <a:endParaRPr sz="18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86" name="textbox 86"/>
          <p:cNvSpPr/>
          <p:nvPr/>
        </p:nvSpPr>
        <p:spPr>
          <a:xfrm>
            <a:off x="280936" y="249066"/>
            <a:ext cx="1663065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CS</a:t>
            </a:r>
            <a:r>
              <a:rPr sz="1300" kern="0" spc="16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181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AI</a:t>
            </a:r>
            <a:r>
              <a:rPr sz="1300" kern="0" spc="14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Final</a:t>
            </a:r>
            <a:r>
              <a:rPr sz="1300" kern="0" spc="13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Project</a:t>
            </a:r>
            <a:endParaRPr sz="13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88"/>
          <p:cNvSpPr/>
          <p:nvPr/>
        </p:nvSpPr>
        <p:spPr>
          <a:xfrm>
            <a:off x="706734" y="1911118"/>
            <a:ext cx="8722995" cy="3150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100" algn="l" rtl="0" eaLnBrk="0">
              <a:lnSpc>
                <a:spcPct val="84000"/>
              </a:lnSpc>
            </a:pPr>
            <a:r>
              <a:rPr sz="3600" b="1" kern="0" spc="80" dirty="0">
                <a:solidFill>
                  <a:srgbClr val="1F618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Implementmethods</a:t>
            </a:r>
            <a:endParaRPr sz="3600" dirty="0">
              <a:latin typeface="Trebuchet MS" panose="020B0703020202090204"/>
              <a:ea typeface="Trebuchet MS" panose="020B0703020202090204"/>
              <a:cs typeface="Trebuchet MS" panose="020B0703020202090204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4000"/>
              </a:lnSpc>
              <a:spcBef>
                <a:spcPts val="700"/>
              </a:spcBef>
            </a:pPr>
            <a:r>
              <a:rPr sz="2300" b="1" kern="0" spc="10" dirty="0">
                <a:solidFill>
                  <a:srgbClr val="27496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2.</a:t>
            </a:r>
            <a:r>
              <a:rPr sz="2300" kern="0" spc="10" dirty="0">
                <a:solidFill>
                  <a:srgbClr val="27496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300" b="1" kern="0" spc="0" dirty="0">
                <a:solidFill>
                  <a:srgbClr val="27496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CSP</a:t>
            </a:r>
            <a:endParaRPr sz="2300" dirty="0">
              <a:latin typeface="Trebuchet MS" panose="020B0703020202090204"/>
              <a:ea typeface="Trebuchet MS" panose="020B0703020202090204"/>
              <a:cs typeface="Trebuchet MS" panose="020B0703020202090204"/>
            </a:endParaRPr>
          </a:p>
          <a:p>
            <a:pPr algn="r" rtl="0" eaLnBrk="0">
              <a:lnSpc>
                <a:spcPct val="69000"/>
              </a:lnSpc>
              <a:spcBef>
                <a:spcPts val="1935"/>
              </a:spcBef>
            </a:pPr>
            <a:r>
              <a:rPr sz="2600" kern="0" spc="10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r>
              <a:rPr sz="2600" kern="0" spc="3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</a:t>
            </a:r>
            <a:r>
              <a:rPr sz="2100" kern="0" spc="1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Use Constraint Satisfaction Problems to model legal</a:t>
            </a:r>
            <a:r>
              <a:rPr sz="2100" kern="0" spc="12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1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card grouping.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marL="293370" algn="l" rtl="0" eaLnBrk="0">
              <a:lnSpc>
                <a:spcPts val="3750"/>
              </a:lnSpc>
            </a:pPr>
            <a:r>
              <a:rPr sz="2600" kern="0" spc="11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r>
              <a:rPr sz="2600" kern="0" spc="1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</a:t>
            </a:r>
            <a:r>
              <a:rPr sz="2100" kern="0" spc="11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Find possible partitions of a</a:t>
            </a:r>
            <a:r>
              <a:rPr sz="2100" kern="0" spc="1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hand</a:t>
            </a:r>
            <a:r>
              <a:rPr sz="2100" kern="0" spc="16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1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into</a:t>
            </a:r>
            <a:r>
              <a:rPr sz="2100" kern="0" spc="19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1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legal combinations.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marL="293370" algn="l" rtl="0" eaLnBrk="0">
              <a:lnSpc>
                <a:spcPct val="70000"/>
              </a:lnSpc>
              <a:spcBef>
                <a:spcPts val="1505"/>
              </a:spcBef>
            </a:pPr>
            <a:r>
              <a:rPr sz="2600" kern="0" spc="10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r>
              <a:rPr sz="2600" kern="0" spc="1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</a:t>
            </a:r>
            <a:r>
              <a:rPr sz="2100" kern="0" spc="1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Prefer fewer groups and stro</a:t>
            </a:r>
            <a:r>
              <a:rPr sz="2100" kern="0" spc="9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nger combinations.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algn="l" rtl="0" eaLnBrk="0">
              <a:lnSpc>
                <a:spcPct val="103000"/>
              </a:lnSpc>
            </a:pPr>
            <a:endParaRPr sz="12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93370" algn="l" rtl="0" eaLnBrk="0">
              <a:lnSpc>
                <a:spcPct val="70000"/>
              </a:lnSpc>
            </a:pPr>
            <a:r>
              <a:rPr sz="2600" kern="0" spc="9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r>
              <a:rPr sz="2600" kern="0" spc="1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</a:t>
            </a:r>
            <a:r>
              <a:rPr sz="2100" kern="0" spc="9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Help the agent choose efficient card struct</a:t>
            </a:r>
            <a:r>
              <a:rPr sz="2100" kern="0" spc="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ures.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90" name="textbox 90"/>
          <p:cNvSpPr/>
          <p:nvPr/>
        </p:nvSpPr>
        <p:spPr>
          <a:xfrm>
            <a:off x="288823" y="6403797"/>
            <a:ext cx="11630660" cy="2406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300" kern="0" spc="6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Fight the landlord</a:t>
            </a:r>
            <a:r>
              <a:rPr sz="1300" kern="0" spc="1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                       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                                                                                                                                                                                                  </a:t>
            </a:r>
            <a:r>
              <a:rPr sz="1800" kern="0" spc="60" dirty="0">
                <a:solidFill>
                  <a:srgbClr val="777777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8</a:t>
            </a:r>
            <a:endParaRPr sz="18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92" name="textbox 92"/>
          <p:cNvSpPr/>
          <p:nvPr/>
        </p:nvSpPr>
        <p:spPr>
          <a:xfrm>
            <a:off x="280936" y="249066"/>
            <a:ext cx="1663065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CS</a:t>
            </a:r>
            <a:r>
              <a:rPr sz="1300" kern="0" spc="16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181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AI</a:t>
            </a:r>
            <a:r>
              <a:rPr sz="1300" kern="0" spc="14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Final</a:t>
            </a:r>
            <a:r>
              <a:rPr sz="1300" kern="0" spc="13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Project</a:t>
            </a:r>
            <a:endParaRPr sz="13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94"/>
          <p:cNvSpPr/>
          <p:nvPr/>
        </p:nvSpPr>
        <p:spPr>
          <a:xfrm>
            <a:off x="710380" y="1272943"/>
            <a:ext cx="7645400" cy="4429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4290" algn="l" rtl="0" eaLnBrk="0">
              <a:lnSpc>
                <a:spcPct val="84000"/>
              </a:lnSpc>
            </a:pPr>
            <a:r>
              <a:rPr sz="3600" b="1" kern="0" spc="80" dirty="0">
                <a:solidFill>
                  <a:srgbClr val="1F618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Implementmethods</a:t>
            </a:r>
            <a:endParaRPr sz="3600" dirty="0">
              <a:latin typeface="Trebuchet MS" panose="020B0703020202090204"/>
              <a:ea typeface="Trebuchet MS" panose="020B0703020202090204"/>
              <a:cs typeface="Trebuchet MS" panose="020B0703020202090204"/>
            </a:endParaRPr>
          </a:p>
          <a:p>
            <a:pPr algn="l" rtl="0" eaLnBrk="0">
              <a:lnSpc>
                <a:spcPct val="12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6000"/>
              </a:lnSpc>
              <a:spcBef>
                <a:spcPts val="695"/>
              </a:spcBef>
            </a:pPr>
            <a:r>
              <a:rPr sz="2300" b="1" kern="0" spc="-40" dirty="0">
                <a:solidFill>
                  <a:srgbClr val="27496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3.</a:t>
            </a:r>
            <a:r>
              <a:rPr sz="2300" kern="0" spc="250" dirty="0">
                <a:solidFill>
                  <a:srgbClr val="27496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300" b="1" kern="0" spc="-40" dirty="0">
                <a:solidFill>
                  <a:srgbClr val="27496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Inference</a:t>
            </a:r>
            <a:endParaRPr sz="2300" dirty="0">
              <a:latin typeface="Trebuchet MS" panose="020B0703020202090204"/>
              <a:ea typeface="Trebuchet MS" panose="020B0703020202090204"/>
              <a:cs typeface="Trebuchet MS" panose="020B070302020209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4810" algn="l" rtl="0" eaLnBrk="0">
              <a:lnSpc>
                <a:spcPct val="76000"/>
              </a:lnSpc>
              <a:spcBef>
                <a:spcPts val="640"/>
              </a:spcBef>
              <a:tabLst>
                <a:tab pos="570230" algn="l"/>
              </a:tabLst>
            </a:pP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	</a:t>
            </a:r>
            <a:r>
              <a:rPr sz="2100" b="1" kern="0" spc="-2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Exact</a:t>
            </a:r>
            <a:r>
              <a:rPr sz="2100" kern="0" spc="14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b="1" kern="0" spc="-2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Infe</a:t>
            </a:r>
            <a:r>
              <a:rPr sz="2100" b="1" kern="0" spc="-3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rence</a:t>
            </a:r>
            <a:endParaRPr sz="2100" dirty="0">
              <a:latin typeface="Trebuchet MS" panose="020B0703020202090204"/>
              <a:ea typeface="Trebuchet MS" panose="020B0703020202090204"/>
              <a:cs typeface="Trebuchet MS" panose="020B0703020202090204"/>
            </a:endParaRPr>
          </a:p>
          <a:p>
            <a:pPr marL="941705" algn="l" rtl="0" eaLnBrk="0">
              <a:lnSpc>
                <a:spcPct val="87000"/>
              </a:lnSpc>
              <a:spcBef>
                <a:spcPts val="1255"/>
              </a:spcBef>
              <a:tabLst>
                <a:tab pos="1104265" algn="l"/>
              </a:tabLst>
            </a:pP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	</a:t>
            </a:r>
            <a:r>
              <a:rPr sz="2100" kern="0" spc="7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Track all played</a:t>
            </a:r>
            <a:r>
              <a:rPr sz="2100" kern="0" spc="1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7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cards</a:t>
            </a:r>
            <a:r>
              <a:rPr sz="2100" kern="0" spc="1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7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exactly.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marL="941705" algn="l" rtl="0" eaLnBrk="0">
              <a:lnSpc>
                <a:spcPct val="87000"/>
              </a:lnSpc>
              <a:spcBef>
                <a:spcPts val="1470"/>
              </a:spcBef>
              <a:tabLst>
                <a:tab pos="1124585" algn="l"/>
              </a:tabLst>
            </a:pP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	</a:t>
            </a:r>
            <a:r>
              <a:rPr sz="2100" kern="0" spc="9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Remove known cards from the unknown card</a:t>
            </a:r>
            <a:r>
              <a:rPr sz="2100" kern="0" spc="25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9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pool.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marL="384810" algn="l" rtl="0" eaLnBrk="0">
              <a:lnSpc>
                <a:spcPct val="86000"/>
              </a:lnSpc>
              <a:spcBef>
                <a:spcPts val="1475"/>
              </a:spcBef>
              <a:tabLst>
                <a:tab pos="548640" algn="l"/>
              </a:tabLst>
            </a:pP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	</a:t>
            </a:r>
            <a:r>
              <a:rPr sz="2100" b="1" kern="0" spc="3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Approximate</a:t>
            </a:r>
            <a:r>
              <a:rPr sz="2100" kern="0" spc="3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b="1" kern="0" spc="3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Inference</a:t>
            </a:r>
            <a:endParaRPr sz="2100" dirty="0">
              <a:latin typeface="Trebuchet MS" panose="020B0703020202090204"/>
              <a:ea typeface="Trebuchet MS" panose="020B0703020202090204"/>
              <a:cs typeface="Trebuchet MS" panose="020B0703020202090204"/>
            </a:endParaRPr>
          </a:p>
          <a:p>
            <a:pPr marL="941705" algn="l" rtl="0" eaLnBrk="0">
              <a:lnSpc>
                <a:spcPct val="86000"/>
              </a:lnSpc>
              <a:spcBef>
                <a:spcPts val="1020"/>
              </a:spcBef>
              <a:tabLst>
                <a:tab pos="1124585" algn="l"/>
              </a:tabLst>
            </a:pP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	</a:t>
            </a:r>
            <a:r>
              <a:rPr sz="2100" kern="0" spc="12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Estimate possible</a:t>
            </a:r>
            <a:r>
              <a:rPr sz="2100" kern="0" spc="11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opponent hands.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marL="941705" algn="l" rtl="0" eaLnBrk="0">
              <a:lnSpc>
                <a:spcPct val="87000"/>
              </a:lnSpc>
              <a:spcBef>
                <a:spcPts val="1570"/>
              </a:spcBef>
              <a:tabLst>
                <a:tab pos="1122045" algn="l"/>
              </a:tabLst>
            </a:pP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	</a:t>
            </a:r>
            <a:r>
              <a:rPr sz="2100" kern="0" spc="1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Use sampling when exact calculation is too expe</a:t>
            </a:r>
            <a:r>
              <a:rPr sz="2100" kern="0" spc="9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nsive.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algn="l" rtl="0" eaLnBrk="0">
              <a:lnSpc>
                <a:spcPct val="102000"/>
              </a:lnSpc>
            </a:pPr>
            <a:endParaRPr sz="12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941705" algn="l" rtl="0" eaLnBrk="0">
              <a:lnSpc>
                <a:spcPct val="87000"/>
              </a:lnSpc>
              <a:tabLst>
                <a:tab pos="1122045" algn="l"/>
              </a:tabLst>
            </a:pP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	</a:t>
            </a:r>
            <a:r>
              <a:rPr sz="2100" kern="0" spc="13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Update belie</a:t>
            </a:r>
            <a:r>
              <a:rPr sz="2100" kern="0" spc="12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fs from bidding and playing</a:t>
            </a:r>
            <a:r>
              <a:rPr sz="2100" kern="0" spc="1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12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behavior.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96" name="path 96"/>
          <p:cNvSpPr/>
          <p:nvPr/>
        </p:nvSpPr>
        <p:spPr>
          <a:xfrm>
            <a:off x="1547812" y="5472112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65" h="165">
                <a:moveTo>
                  <a:pt x="157" y="82"/>
                </a:moveTo>
                <a:cubicBezTo>
                  <a:pt x="157" y="92"/>
                  <a:pt x="155" y="102"/>
                  <a:pt x="151" y="111"/>
                </a:cubicBezTo>
                <a:cubicBezTo>
                  <a:pt x="147" y="120"/>
                  <a:pt x="142" y="128"/>
                  <a:pt x="135" y="135"/>
                </a:cubicBezTo>
                <a:cubicBezTo>
                  <a:pt x="128" y="142"/>
                  <a:pt x="120" y="147"/>
                  <a:pt x="111" y="151"/>
                </a:cubicBezTo>
                <a:cubicBezTo>
                  <a:pt x="102" y="155"/>
                  <a:pt x="92" y="157"/>
                  <a:pt x="82" y="157"/>
                </a:cubicBezTo>
                <a:cubicBezTo>
                  <a:pt x="72" y="157"/>
                  <a:pt x="62" y="155"/>
                  <a:pt x="53" y="151"/>
                </a:cubicBezTo>
                <a:cubicBezTo>
                  <a:pt x="44" y="147"/>
                  <a:pt x="36" y="142"/>
                  <a:pt x="29" y="135"/>
                </a:cubicBezTo>
                <a:cubicBezTo>
                  <a:pt x="22" y="128"/>
                  <a:pt x="17" y="120"/>
                  <a:pt x="13" y="111"/>
                </a:cubicBezTo>
                <a:cubicBezTo>
                  <a:pt x="9" y="102"/>
                  <a:pt x="7" y="92"/>
                  <a:pt x="7" y="82"/>
                </a:cubicBezTo>
                <a:cubicBezTo>
                  <a:pt x="7" y="72"/>
                  <a:pt x="9" y="62"/>
                  <a:pt x="13" y="53"/>
                </a:cubicBezTo>
                <a:cubicBezTo>
                  <a:pt x="17" y="44"/>
                  <a:pt x="22" y="36"/>
                  <a:pt x="29" y="29"/>
                </a:cubicBezTo>
                <a:cubicBezTo>
                  <a:pt x="36" y="22"/>
                  <a:pt x="44" y="17"/>
                  <a:pt x="53" y="13"/>
                </a:cubicBezTo>
                <a:cubicBezTo>
                  <a:pt x="62" y="9"/>
                  <a:pt x="72" y="7"/>
                  <a:pt x="82" y="7"/>
                </a:cubicBezTo>
                <a:cubicBezTo>
                  <a:pt x="92" y="7"/>
                  <a:pt x="102" y="9"/>
                  <a:pt x="111" y="13"/>
                </a:cubicBezTo>
                <a:cubicBezTo>
                  <a:pt x="120" y="17"/>
                  <a:pt x="128" y="22"/>
                  <a:pt x="135" y="29"/>
                </a:cubicBezTo>
                <a:cubicBezTo>
                  <a:pt x="142" y="36"/>
                  <a:pt x="147" y="44"/>
                  <a:pt x="151" y="53"/>
                </a:cubicBezTo>
                <a:cubicBezTo>
                  <a:pt x="155" y="62"/>
                  <a:pt x="157" y="72"/>
                  <a:pt x="157" y="82"/>
                </a:cubicBezTo>
              </a:path>
            </a:pathLst>
          </a:custGeom>
          <a:noFill/>
          <a:ln w="9525" cap="flat">
            <a:solidFill>
              <a:srgbClr val="17203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8" name="path 98"/>
          <p:cNvSpPr/>
          <p:nvPr/>
        </p:nvSpPr>
        <p:spPr>
          <a:xfrm>
            <a:off x="1547812" y="5005387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65" h="165">
                <a:moveTo>
                  <a:pt x="157" y="82"/>
                </a:moveTo>
                <a:cubicBezTo>
                  <a:pt x="157" y="92"/>
                  <a:pt x="155" y="102"/>
                  <a:pt x="151" y="111"/>
                </a:cubicBezTo>
                <a:cubicBezTo>
                  <a:pt x="147" y="120"/>
                  <a:pt x="142" y="128"/>
                  <a:pt x="135" y="135"/>
                </a:cubicBezTo>
                <a:cubicBezTo>
                  <a:pt x="128" y="142"/>
                  <a:pt x="120" y="147"/>
                  <a:pt x="111" y="151"/>
                </a:cubicBezTo>
                <a:cubicBezTo>
                  <a:pt x="102" y="155"/>
                  <a:pt x="92" y="157"/>
                  <a:pt x="82" y="157"/>
                </a:cubicBezTo>
                <a:cubicBezTo>
                  <a:pt x="72" y="157"/>
                  <a:pt x="62" y="155"/>
                  <a:pt x="53" y="151"/>
                </a:cubicBezTo>
                <a:cubicBezTo>
                  <a:pt x="44" y="147"/>
                  <a:pt x="36" y="142"/>
                  <a:pt x="29" y="135"/>
                </a:cubicBezTo>
                <a:cubicBezTo>
                  <a:pt x="22" y="128"/>
                  <a:pt x="17" y="120"/>
                  <a:pt x="13" y="111"/>
                </a:cubicBezTo>
                <a:cubicBezTo>
                  <a:pt x="9" y="102"/>
                  <a:pt x="7" y="92"/>
                  <a:pt x="7" y="82"/>
                </a:cubicBezTo>
                <a:cubicBezTo>
                  <a:pt x="7" y="72"/>
                  <a:pt x="9" y="62"/>
                  <a:pt x="13" y="53"/>
                </a:cubicBezTo>
                <a:cubicBezTo>
                  <a:pt x="17" y="44"/>
                  <a:pt x="22" y="36"/>
                  <a:pt x="29" y="29"/>
                </a:cubicBezTo>
                <a:cubicBezTo>
                  <a:pt x="36" y="22"/>
                  <a:pt x="44" y="17"/>
                  <a:pt x="53" y="13"/>
                </a:cubicBezTo>
                <a:cubicBezTo>
                  <a:pt x="62" y="9"/>
                  <a:pt x="72" y="7"/>
                  <a:pt x="82" y="7"/>
                </a:cubicBezTo>
                <a:cubicBezTo>
                  <a:pt x="92" y="7"/>
                  <a:pt x="102" y="9"/>
                  <a:pt x="111" y="13"/>
                </a:cubicBezTo>
                <a:cubicBezTo>
                  <a:pt x="120" y="17"/>
                  <a:pt x="128" y="22"/>
                  <a:pt x="135" y="29"/>
                </a:cubicBezTo>
                <a:cubicBezTo>
                  <a:pt x="142" y="36"/>
                  <a:pt x="147" y="44"/>
                  <a:pt x="151" y="53"/>
                </a:cubicBezTo>
                <a:cubicBezTo>
                  <a:pt x="155" y="62"/>
                  <a:pt x="157" y="72"/>
                  <a:pt x="157" y="82"/>
                </a:cubicBezTo>
              </a:path>
            </a:pathLst>
          </a:custGeom>
          <a:noFill/>
          <a:ln w="9525" cap="flat">
            <a:solidFill>
              <a:srgbClr val="17203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0" name="path 100"/>
          <p:cNvSpPr/>
          <p:nvPr/>
        </p:nvSpPr>
        <p:spPr>
          <a:xfrm>
            <a:off x="1547812" y="4529137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65" h="165">
                <a:moveTo>
                  <a:pt x="157" y="82"/>
                </a:moveTo>
                <a:cubicBezTo>
                  <a:pt x="157" y="92"/>
                  <a:pt x="155" y="102"/>
                  <a:pt x="151" y="111"/>
                </a:cubicBezTo>
                <a:cubicBezTo>
                  <a:pt x="147" y="120"/>
                  <a:pt x="142" y="128"/>
                  <a:pt x="135" y="135"/>
                </a:cubicBezTo>
                <a:cubicBezTo>
                  <a:pt x="128" y="142"/>
                  <a:pt x="120" y="147"/>
                  <a:pt x="111" y="151"/>
                </a:cubicBezTo>
                <a:cubicBezTo>
                  <a:pt x="102" y="155"/>
                  <a:pt x="92" y="157"/>
                  <a:pt x="82" y="157"/>
                </a:cubicBezTo>
                <a:cubicBezTo>
                  <a:pt x="72" y="157"/>
                  <a:pt x="62" y="155"/>
                  <a:pt x="53" y="151"/>
                </a:cubicBezTo>
                <a:cubicBezTo>
                  <a:pt x="44" y="147"/>
                  <a:pt x="36" y="142"/>
                  <a:pt x="29" y="135"/>
                </a:cubicBezTo>
                <a:cubicBezTo>
                  <a:pt x="22" y="128"/>
                  <a:pt x="17" y="120"/>
                  <a:pt x="13" y="111"/>
                </a:cubicBezTo>
                <a:cubicBezTo>
                  <a:pt x="9" y="102"/>
                  <a:pt x="7" y="92"/>
                  <a:pt x="7" y="82"/>
                </a:cubicBezTo>
                <a:cubicBezTo>
                  <a:pt x="7" y="72"/>
                  <a:pt x="9" y="62"/>
                  <a:pt x="13" y="53"/>
                </a:cubicBezTo>
                <a:cubicBezTo>
                  <a:pt x="17" y="44"/>
                  <a:pt x="22" y="36"/>
                  <a:pt x="29" y="29"/>
                </a:cubicBezTo>
                <a:cubicBezTo>
                  <a:pt x="36" y="22"/>
                  <a:pt x="44" y="17"/>
                  <a:pt x="53" y="13"/>
                </a:cubicBezTo>
                <a:cubicBezTo>
                  <a:pt x="62" y="9"/>
                  <a:pt x="72" y="7"/>
                  <a:pt x="82" y="7"/>
                </a:cubicBezTo>
                <a:cubicBezTo>
                  <a:pt x="92" y="7"/>
                  <a:pt x="102" y="9"/>
                  <a:pt x="111" y="13"/>
                </a:cubicBezTo>
                <a:cubicBezTo>
                  <a:pt x="120" y="17"/>
                  <a:pt x="128" y="22"/>
                  <a:pt x="135" y="29"/>
                </a:cubicBezTo>
                <a:cubicBezTo>
                  <a:pt x="142" y="36"/>
                  <a:pt x="147" y="44"/>
                  <a:pt x="151" y="53"/>
                </a:cubicBezTo>
                <a:cubicBezTo>
                  <a:pt x="155" y="62"/>
                  <a:pt x="157" y="72"/>
                  <a:pt x="157" y="82"/>
                </a:cubicBezTo>
              </a:path>
            </a:pathLst>
          </a:custGeom>
          <a:noFill/>
          <a:ln w="9525" cap="flat">
            <a:solidFill>
              <a:srgbClr val="17203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02" name="picture 1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00124" y="4133850"/>
            <a:ext cx="95250" cy="95250"/>
          </a:xfrm>
          <a:prstGeom prst="rect">
            <a:avLst/>
          </a:prstGeom>
        </p:spPr>
      </p:pic>
      <p:sp>
        <p:nvSpPr>
          <p:cNvPr id="104" name="path 104"/>
          <p:cNvSpPr/>
          <p:nvPr/>
        </p:nvSpPr>
        <p:spPr>
          <a:xfrm>
            <a:off x="1547812" y="3662362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65" h="165">
                <a:moveTo>
                  <a:pt x="157" y="82"/>
                </a:moveTo>
                <a:cubicBezTo>
                  <a:pt x="157" y="92"/>
                  <a:pt x="155" y="102"/>
                  <a:pt x="151" y="111"/>
                </a:cubicBezTo>
                <a:cubicBezTo>
                  <a:pt x="147" y="120"/>
                  <a:pt x="142" y="128"/>
                  <a:pt x="135" y="135"/>
                </a:cubicBezTo>
                <a:cubicBezTo>
                  <a:pt x="128" y="142"/>
                  <a:pt x="120" y="147"/>
                  <a:pt x="111" y="151"/>
                </a:cubicBezTo>
                <a:cubicBezTo>
                  <a:pt x="102" y="155"/>
                  <a:pt x="92" y="157"/>
                  <a:pt x="82" y="157"/>
                </a:cubicBezTo>
                <a:cubicBezTo>
                  <a:pt x="72" y="157"/>
                  <a:pt x="62" y="155"/>
                  <a:pt x="53" y="151"/>
                </a:cubicBezTo>
                <a:cubicBezTo>
                  <a:pt x="44" y="147"/>
                  <a:pt x="36" y="142"/>
                  <a:pt x="29" y="135"/>
                </a:cubicBezTo>
                <a:cubicBezTo>
                  <a:pt x="22" y="128"/>
                  <a:pt x="17" y="120"/>
                  <a:pt x="13" y="111"/>
                </a:cubicBezTo>
                <a:cubicBezTo>
                  <a:pt x="9" y="102"/>
                  <a:pt x="7" y="92"/>
                  <a:pt x="7" y="82"/>
                </a:cubicBezTo>
                <a:cubicBezTo>
                  <a:pt x="7" y="72"/>
                  <a:pt x="9" y="62"/>
                  <a:pt x="13" y="53"/>
                </a:cubicBezTo>
                <a:cubicBezTo>
                  <a:pt x="17" y="44"/>
                  <a:pt x="22" y="36"/>
                  <a:pt x="29" y="29"/>
                </a:cubicBezTo>
                <a:cubicBezTo>
                  <a:pt x="36" y="22"/>
                  <a:pt x="44" y="17"/>
                  <a:pt x="53" y="13"/>
                </a:cubicBezTo>
                <a:cubicBezTo>
                  <a:pt x="62" y="9"/>
                  <a:pt x="72" y="7"/>
                  <a:pt x="82" y="7"/>
                </a:cubicBezTo>
                <a:cubicBezTo>
                  <a:pt x="92" y="7"/>
                  <a:pt x="102" y="9"/>
                  <a:pt x="111" y="13"/>
                </a:cubicBezTo>
                <a:cubicBezTo>
                  <a:pt x="120" y="17"/>
                  <a:pt x="128" y="22"/>
                  <a:pt x="135" y="29"/>
                </a:cubicBezTo>
                <a:cubicBezTo>
                  <a:pt x="142" y="36"/>
                  <a:pt x="147" y="44"/>
                  <a:pt x="151" y="53"/>
                </a:cubicBezTo>
                <a:cubicBezTo>
                  <a:pt x="155" y="62"/>
                  <a:pt x="157" y="72"/>
                  <a:pt x="157" y="82"/>
                </a:cubicBezTo>
              </a:path>
            </a:pathLst>
          </a:custGeom>
          <a:noFill/>
          <a:ln w="9525" cap="flat">
            <a:solidFill>
              <a:srgbClr val="17203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6" name="path 106"/>
          <p:cNvSpPr/>
          <p:nvPr/>
        </p:nvSpPr>
        <p:spPr>
          <a:xfrm>
            <a:off x="1547812" y="3195637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65" h="165">
                <a:moveTo>
                  <a:pt x="157" y="82"/>
                </a:moveTo>
                <a:cubicBezTo>
                  <a:pt x="157" y="92"/>
                  <a:pt x="155" y="102"/>
                  <a:pt x="151" y="111"/>
                </a:cubicBezTo>
                <a:cubicBezTo>
                  <a:pt x="147" y="120"/>
                  <a:pt x="142" y="128"/>
                  <a:pt x="135" y="135"/>
                </a:cubicBezTo>
                <a:cubicBezTo>
                  <a:pt x="128" y="142"/>
                  <a:pt x="120" y="147"/>
                  <a:pt x="111" y="151"/>
                </a:cubicBezTo>
                <a:cubicBezTo>
                  <a:pt x="102" y="155"/>
                  <a:pt x="92" y="157"/>
                  <a:pt x="82" y="157"/>
                </a:cubicBezTo>
                <a:cubicBezTo>
                  <a:pt x="72" y="157"/>
                  <a:pt x="62" y="155"/>
                  <a:pt x="53" y="151"/>
                </a:cubicBezTo>
                <a:cubicBezTo>
                  <a:pt x="44" y="147"/>
                  <a:pt x="36" y="142"/>
                  <a:pt x="29" y="135"/>
                </a:cubicBezTo>
                <a:cubicBezTo>
                  <a:pt x="22" y="128"/>
                  <a:pt x="17" y="120"/>
                  <a:pt x="13" y="111"/>
                </a:cubicBezTo>
                <a:cubicBezTo>
                  <a:pt x="9" y="102"/>
                  <a:pt x="7" y="92"/>
                  <a:pt x="7" y="82"/>
                </a:cubicBezTo>
                <a:cubicBezTo>
                  <a:pt x="7" y="72"/>
                  <a:pt x="9" y="62"/>
                  <a:pt x="13" y="53"/>
                </a:cubicBezTo>
                <a:cubicBezTo>
                  <a:pt x="17" y="44"/>
                  <a:pt x="22" y="36"/>
                  <a:pt x="29" y="29"/>
                </a:cubicBezTo>
                <a:cubicBezTo>
                  <a:pt x="36" y="22"/>
                  <a:pt x="44" y="17"/>
                  <a:pt x="53" y="13"/>
                </a:cubicBezTo>
                <a:cubicBezTo>
                  <a:pt x="62" y="9"/>
                  <a:pt x="72" y="7"/>
                  <a:pt x="82" y="7"/>
                </a:cubicBezTo>
                <a:cubicBezTo>
                  <a:pt x="92" y="7"/>
                  <a:pt x="102" y="9"/>
                  <a:pt x="111" y="13"/>
                </a:cubicBezTo>
                <a:cubicBezTo>
                  <a:pt x="120" y="17"/>
                  <a:pt x="128" y="22"/>
                  <a:pt x="135" y="29"/>
                </a:cubicBezTo>
                <a:cubicBezTo>
                  <a:pt x="142" y="36"/>
                  <a:pt x="147" y="44"/>
                  <a:pt x="151" y="53"/>
                </a:cubicBezTo>
                <a:cubicBezTo>
                  <a:pt x="155" y="62"/>
                  <a:pt x="157" y="72"/>
                  <a:pt x="157" y="82"/>
                </a:cubicBezTo>
              </a:path>
            </a:pathLst>
          </a:custGeom>
          <a:noFill/>
          <a:ln w="9525" cap="flat">
            <a:solidFill>
              <a:srgbClr val="17203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08" name="picture 1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00124" y="2800350"/>
            <a:ext cx="95250" cy="95250"/>
          </a:xfrm>
          <a:prstGeom prst="rect">
            <a:avLst/>
          </a:prstGeom>
        </p:spPr>
      </p:pic>
      <p:sp>
        <p:nvSpPr>
          <p:cNvPr id="110" name="textbox 110"/>
          <p:cNvSpPr/>
          <p:nvPr/>
        </p:nvSpPr>
        <p:spPr>
          <a:xfrm>
            <a:off x="288823" y="6403797"/>
            <a:ext cx="11630660" cy="2406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300" kern="0" spc="6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Fight the landlord</a:t>
            </a:r>
            <a:r>
              <a:rPr sz="1300" kern="0" spc="1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                        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                                                                                                                                                                                                 </a:t>
            </a:r>
            <a:r>
              <a:rPr sz="1800" kern="0" spc="60" dirty="0">
                <a:solidFill>
                  <a:srgbClr val="777777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9</a:t>
            </a:r>
            <a:endParaRPr sz="18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112" name="textbox 112"/>
          <p:cNvSpPr/>
          <p:nvPr/>
        </p:nvSpPr>
        <p:spPr>
          <a:xfrm>
            <a:off x="280936" y="249066"/>
            <a:ext cx="1663065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CS</a:t>
            </a:r>
            <a:r>
              <a:rPr sz="1300" kern="0" spc="16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181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AI</a:t>
            </a:r>
            <a:r>
              <a:rPr sz="1300" kern="0" spc="14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Final</a:t>
            </a:r>
            <a:r>
              <a:rPr sz="1300" kern="0" spc="13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Project</a:t>
            </a:r>
            <a:endParaRPr sz="13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box 114"/>
          <p:cNvSpPr/>
          <p:nvPr/>
        </p:nvSpPr>
        <p:spPr>
          <a:xfrm>
            <a:off x="699746" y="1739668"/>
            <a:ext cx="6776719" cy="3495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45085" algn="l" rtl="0" eaLnBrk="0">
              <a:lnSpc>
                <a:spcPct val="84000"/>
              </a:lnSpc>
            </a:pPr>
            <a:r>
              <a:rPr sz="3600" b="1" kern="0" spc="80" dirty="0">
                <a:solidFill>
                  <a:srgbClr val="1F618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Implementmethods</a:t>
            </a:r>
            <a:endParaRPr sz="3600" dirty="0">
              <a:latin typeface="Trebuchet MS" panose="020B0703020202090204"/>
              <a:ea typeface="Trebuchet MS" panose="020B0703020202090204"/>
              <a:cs typeface="Trebuchet MS" panose="020B0703020202090204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4000"/>
              </a:lnSpc>
              <a:spcBef>
                <a:spcPts val="690"/>
              </a:spcBef>
            </a:pPr>
            <a:r>
              <a:rPr sz="2300" b="1" kern="0" spc="270" dirty="0">
                <a:solidFill>
                  <a:srgbClr val="27496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4.</a:t>
            </a:r>
            <a:r>
              <a:rPr sz="2300" kern="0" spc="170" dirty="0">
                <a:solidFill>
                  <a:srgbClr val="27496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300" b="1" kern="0" spc="0" dirty="0">
                <a:solidFill>
                  <a:srgbClr val="27496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MDP</a:t>
            </a:r>
            <a:endParaRPr sz="2300" dirty="0">
              <a:latin typeface="Trebuchet MS" panose="020B0703020202090204"/>
              <a:ea typeface="Trebuchet MS" panose="020B0703020202090204"/>
              <a:cs typeface="Trebuchet MS" panose="020B070302020209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95605" algn="l" rtl="0" eaLnBrk="0">
              <a:lnSpc>
                <a:spcPct val="80000"/>
              </a:lnSpc>
              <a:spcBef>
                <a:spcPts val="635"/>
              </a:spcBef>
              <a:tabLst>
                <a:tab pos="581025" algn="l"/>
              </a:tabLst>
            </a:pP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	</a:t>
            </a:r>
            <a:r>
              <a:rPr sz="2100" b="1" kern="0" spc="7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Markov</a:t>
            </a:r>
            <a:r>
              <a:rPr sz="2100" kern="0" spc="7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b="1" kern="0" spc="7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Decisio</a:t>
            </a:r>
            <a:r>
              <a:rPr sz="2100" b="1" kern="0" spc="6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n</a:t>
            </a:r>
            <a:r>
              <a:rPr sz="2100" kern="0" spc="6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b="1" kern="0" spc="6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Process</a:t>
            </a:r>
            <a:r>
              <a:rPr sz="2100" kern="0" spc="11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b="1" kern="0" spc="6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(MDP)</a:t>
            </a:r>
            <a:endParaRPr sz="2100" dirty="0">
              <a:latin typeface="Trebuchet MS" panose="020B0703020202090204"/>
              <a:ea typeface="Trebuchet MS" panose="020B0703020202090204"/>
              <a:cs typeface="Trebuchet MS" panose="020B0703020202090204"/>
            </a:endParaRPr>
          </a:p>
          <a:p>
            <a:pPr marL="952500" algn="l" rtl="0" eaLnBrk="0">
              <a:lnSpc>
                <a:spcPct val="77000"/>
              </a:lnSpc>
              <a:spcBef>
                <a:spcPts val="1120"/>
              </a:spcBef>
              <a:tabLst>
                <a:tab pos="1135380" algn="l"/>
              </a:tabLst>
            </a:pP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	</a:t>
            </a:r>
            <a:r>
              <a:rPr sz="2100" kern="0" spc="8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Define states, actions, transitions, and rewards.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marL="395605" algn="l" rtl="0" eaLnBrk="0">
              <a:lnSpc>
                <a:spcPct val="76000"/>
              </a:lnSpc>
              <a:spcBef>
                <a:spcPts val="1755"/>
              </a:spcBef>
              <a:tabLst>
                <a:tab pos="572135" algn="l"/>
              </a:tabLst>
            </a:pP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	</a:t>
            </a:r>
            <a:r>
              <a:rPr sz="2100" b="1" kern="0" spc="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State</a:t>
            </a:r>
            <a:r>
              <a:rPr sz="2100" kern="0" spc="5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b="1" kern="0" spc="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Value</a:t>
            </a:r>
            <a:r>
              <a:rPr sz="2100" kern="0" spc="5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b="1" kern="0" spc="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Function</a:t>
            </a:r>
            <a:endParaRPr sz="2100" dirty="0">
              <a:latin typeface="Trebuchet MS" panose="020B0703020202090204"/>
              <a:ea typeface="Trebuchet MS" panose="020B0703020202090204"/>
              <a:cs typeface="Trebuchet MS" panose="020B0703020202090204"/>
            </a:endParaRPr>
          </a:p>
          <a:p>
            <a:pPr marL="952500" algn="l" rtl="0" eaLnBrk="0">
              <a:lnSpc>
                <a:spcPct val="87000"/>
              </a:lnSpc>
              <a:spcBef>
                <a:spcPts val="1235"/>
              </a:spcBef>
              <a:tabLst>
                <a:tab pos="1135380" algn="l"/>
              </a:tabLst>
            </a:pP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	</a:t>
            </a:r>
            <a:r>
              <a:rPr sz="2100" kern="0" spc="11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Estimate how good a gam</a:t>
            </a:r>
            <a:r>
              <a:rPr sz="2100" kern="0" spc="1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e</a:t>
            </a:r>
            <a:r>
              <a:rPr sz="2100" kern="0" spc="12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1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state</a:t>
            </a:r>
            <a:r>
              <a:rPr sz="2100" kern="0" spc="15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100" kern="0" spc="1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is.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algn="l" rtl="0" eaLnBrk="0">
              <a:lnSpc>
                <a:spcPct val="108000"/>
              </a:lnSpc>
            </a:pPr>
            <a:endParaRPr sz="12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952500" algn="l" rtl="0" eaLnBrk="0">
              <a:lnSpc>
                <a:spcPct val="87000"/>
              </a:lnSpc>
              <a:spcBef>
                <a:spcPts val="5"/>
              </a:spcBef>
              <a:tabLst>
                <a:tab pos="1132840" algn="l"/>
              </a:tabLst>
            </a:pP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	</a:t>
            </a:r>
            <a:r>
              <a:rPr sz="2100" kern="0" spc="1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Use value estimates to guide move selection.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116" name="path 116"/>
          <p:cNvSpPr/>
          <p:nvPr/>
        </p:nvSpPr>
        <p:spPr>
          <a:xfrm>
            <a:off x="1547812" y="5005387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65" h="165">
                <a:moveTo>
                  <a:pt x="157" y="82"/>
                </a:moveTo>
                <a:cubicBezTo>
                  <a:pt x="157" y="92"/>
                  <a:pt x="155" y="102"/>
                  <a:pt x="151" y="111"/>
                </a:cubicBezTo>
                <a:cubicBezTo>
                  <a:pt x="147" y="120"/>
                  <a:pt x="142" y="128"/>
                  <a:pt x="135" y="135"/>
                </a:cubicBezTo>
                <a:cubicBezTo>
                  <a:pt x="128" y="142"/>
                  <a:pt x="120" y="147"/>
                  <a:pt x="111" y="151"/>
                </a:cubicBezTo>
                <a:cubicBezTo>
                  <a:pt x="102" y="155"/>
                  <a:pt x="92" y="157"/>
                  <a:pt x="82" y="157"/>
                </a:cubicBezTo>
                <a:cubicBezTo>
                  <a:pt x="72" y="157"/>
                  <a:pt x="62" y="155"/>
                  <a:pt x="53" y="151"/>
                </a:cubicBezTo>
                <a:cubicBezTo>
                  <a:pt x="44" y="147"/>
                  <a:pt x="36" y="142"/>
                  <a:pt x="29" y="135"/>
                </a:cubicBezTo>
                <a:cubicBezTo>
                  <a:pt x="22" y="128"/>
                  <a:pt x="17" y="120"/>
                  <a:pt x="13" y="111"/>
                </a:cubicBezTo>
                <a:cubicBezTo>
                  <a:pt x="9" y="102"/>
                  <a:pt x="7" y="92"/>
                  <a:pt x="7" y="82"/>
                </a:cubicBezTo>
                <a:cubicBezTo>
                  <a:pt x="7" y="72"/>
                  <a:pt x="9" y="62"/>
                  <a:pt x="13" y="53"/>
                </a:cubicBezTo>
                <a:cubicBezTo>
                  <a:pt x="17" y="44"/>
                  <a:pt x="22" y="36"/>
                  <a:pt x="29" y="29"/>
                </a:cubicBezTo>
                <a:cubicBezTo>
                  <a:pt x="36" y="22"/>
                  <a:pt x="44" y="17"/>
                  <a:pt x="53" y="13"/>
                </a:cubicBezTo>
                <a:cubicBezTo>
                  <a:pt x="62" y="9"/>
                  <a:pt x="72" y="7"/>
                  <a:pt x="82" y="7"/>
                </a:cubicBezTo>
                <a:cubicBezTo>
                  <a:pt x="92" y="7"/>
                  <a:pt x="102" y="9"/>
                  <a:pt x="111" y="13"/>
                </a:cubicBezTo>
                <a:cubicBezTo>
                  <a:pt x="120" y="17"/>
                  <a:pt x="128" y="22"/>
                  <a:pt x="135" y="29"/>
                </a:cubicBezTo>
                <a:cubicBezTo>
                  <a:pt x="142" y="36"/>
                  <a:pt x="147" y="44"/>
                  <a:pt x="151" y="53"/>
                </a:cubicBezTo>
                <a:cubicBezTo>
                  <a:pt x="155" y="62"/>
                  <a:pt x="157" y="72"/>
                  <a:pt x="157" y="82"/>
                </a:cubicBezTo>
              </a:path>
            </a:pathLst>
          </a:custGeom>
          <a:noFill/>
          <a:ln w="9525" cap="flat">
            <a:solidFill>
              <a:srgbClr val="17203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8" name="path 118"/>
          <p:cNvSpPr/>
          <p:nvPr/>
        </p:nvSpPr>
        <p:spPr>
          <a:xfrm>
            <a:off x="1547812" y="4529137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65" h="165">
                <a:moveTo>
                  <a:pt x="157" y="82"/>
                </a:moveTo>
                <a:cubicBezTo>
                  <a:pt x="157" y="92"/>
                  <a:pt x="155" y="102"/>
                  <a:pt x="151" y="111"/>
                </a:cubicBezTo>
                <a:cubicBezTo>
                  <a:pt x="147" y="120"/>
                  <a:pt x="142" y="128"/>
                  <a:pt x="135" y="135"/>
                </a:cubicBezTo>
                <a:cubicBezTo>
                  <a:pt x="128" y="142"/>
                  <a:pt x="120" y="147"/>
                  <a:pt x="111" y="151"/>
                </a:cubicBezTo>
                <a:cubicBezTo>
                  <a:pt x="102" y="155"/>
                  <a:pt x="92" y="157"/>
                  <a:pt x="82" y="157"/>
                </a:cubicBezTo>
                <a:cubicBezTo>
                  <a:pt x="72" y="157"/>
                  <a:pt x="62" y="155"/>
                  <a:pt x="53" y="151"/>
                </a:cubicBezTo>
                <a:cubicBezTo>
                  <a:pt x="44" y="147"/>
                  <a:pt x="36" y="142"/>
                  <a:pt x="29" y="135"/>
                </a:cubicBezTo>
                <a:cubicBezTo>
                  <a:pt x="22" y="128"/>
                  <a:pt x="17" y="120"/>
                  <a:pt x="13" y="111"/>
                </a:cubicBezTo>
                <a:cubicBezTo>
                  <a:pt x="9" y="102"/>
                  <a:pt x="7" y="92"/>
                  <a:pt x="7" y="82"/>
                </a:cubicBezTo>
                <a:cubicBezTo>
                  <a:pt x="7" y="72"/>
                  <a:pt x="9" y="62"/>
                  <a:pt x="13" y="53"/>
                </a:cubicBezTo>
                <a:cubicBezTo>
                  <a:pt x="17" y="44"/>
                  <a:pt x="22" y="36"/>
                  <a:pt x="29" y="29"/>
                </a:cubicBezTo>
                <a:cubicBezTo>
                  <a:pt x="36" y="22"/>
                  <a:pt x="44" y="17"/>
                  <a:pt x="53" y="13"/>
                </a:cubicBezTo>
                <a:cubicBezTo>
                  <a:pt x="62" y="9"/>
                  <a:pt x="72" y="7"/>
                  <a:pt x="82" y="7"/>
                </a:cubicBezTo>
                <a:cubicBezTo>
                  <a:pt x="92" y="7"/>
                  <a:pt x="102" y="9"/>
                  <a:pt x="111" y="13"/>
                </a:cubicBezTo>
                <a:cubicBezTo>
                  <a:pt x="120" y="17"/>
                  <a:pt x="128" y="22"/>
                  <a:pt x="135" y="29"/>
                </a:cubicBezTo>
                <a:cubicBezTo>
                  <a:pt x="142" y="36"/>
                  <a:pt x="147" y="44"/>
                  <a:pt x="151" y="53"/>
                </a:cubicBezTo>
                <a:cubicBezTo>
                  <a:pt x="155" y="62"/>
                  <a:pt x="157" y="72"/>
                  <a:pt x="157" y="82"/>
                </a:cubicBezTo>
              </a:path>
            </a:pathLst>
          </a:custGeom>
          <a:noFill/>
          <a:ln w="9525" cap="flat">
            <a:solidFill>
              <a:srgbClr val="17203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20" name="picture 1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00124" y="4133850"/>
            <a:ext cx="95250" cy="95250"/>
          </a:xfrm>
          <a:prstGeom prst="rect">
            <a:avLst/>
          </a:prstGeom>
        </p:spPr>
      </p:pic>
      <p:sp>
        <p:nvSpPr>
          <p:cNvPr id="122" name="path 122"/>
          <p:cNvSpPr/>
          <p:nvPr/>
        </p:nvSpPr>
        <p:spPr>
          <a:xfrm>
            <a:off x="1547812" y="3662362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65" h="165">
                <a:moveTo>
                  <a:pt x="157" y="82"/>
                </a:moveTo>
                <a:cubicBezTo>
                  <a:pt x="157" y="92"/>
                  <a:pt x="155" y="102"/>
                  <a:pt x="151" y="111"/>
                </a:cubicBezTo>
                <a:cubicBezTo>
                  <a:pt x="147" y="120"/>
                  <a:pt x="142" y="128"/>
                  <a:pt x="135" y="135"/>
                </a:cubicBezTo>
                <a:cubicBezTo>
                  <a:pt x="128" y="142"/>
                  <a:pt x="120" y="147"/>
                  <a:pt x="111" y="151"/>
                </a:cubicBezTo>
                <a:cubicBezTo>
                  <a:pt x="102" y="155"/>
                  <a:pt x="92" y="157"/>
                  <a:pt x="82" y="157"/>
                </a:cubicBezTo>
                <a:cubicBezTo>
                  <a:pt x="72" y="157"/>
                  <a:pt x="62" y="155"/>
                  <a:pt x="53" y="151"/>
                </a:cubicBezTo>
                <a:cubicBezTo>
                  <a:pt x="44" y="147"/>
                  <a:pt x="36" y="142"/>
                  <a:pt x="29" y="135"/>
                </a:cubicBezTo>
                <a:cubicBezTo>
                  <a:pt x="22" y="128"/>
                  <a:pt x="17" y="120"/>
                  <a:pt x="13" y="111"/>
                </a:cubicBezTo>
                <a:cubicBezTo>
                  <a:pt x="9" y="102"/>
                  <a:pt x="7" y="92"/>
                  <a:pt x="7" y="82"/>
                </a:cubicBezTo>
                <a:cubicBezTo>
                  <a:pt x="7" y="72"/>
                  <a:pt x="9" y="62"/>
                  <a:pt x="13" y="53"/>
                </a:cubicBezTo>
                <a:cubicBezTo>
                  <a:pt x="17" y="44"/>
                  <a:pt x="22" y="36"/>
                  <a:pt x="29" y="29"/>
                </a:cubicBezTo>
                <a:cubicBezTo>
                  <a:pt x="36" y="22"/>
                  <a:pt x="44" y="17"/>
                  <a:pt x="53" y="13"/>
                </a:cubicBezTo>
                <a:cubicBezTo>
                  <a:pt x="62" y="9"/>
                  <a:pt x="72" y="7"/>
                  <a:pt x="82" y="7"/>
                </a:cubicBezTo>
                <a:cubicBezTo>
                  <a:pt x="92" y="7"/>
                  <a:pt x="102" y="9"/>
                  <a:pt x="111" y="13"/>
                </a:cubicBezTo>
                <a:cubicBezTo>
                  <a:pt x="120" y="17"/>
                  <a:pt x="128" y="22"/>
                  <a:pt x="135" y="29"/>
                </a:cubicBezTo>
                <a:cubicBezTo>
                  <a:pt x="142" y="36"/>
                  <a:pt x="147" y="44"/>
                  <a:pt x="151" y="53"/>
                </a:cubicBezTo>
                <a:cubicBezTo>
                  <a:pt x="155" y="62"/>
                  <a:pt x="157" y="72"/>
                  <a:pt x="157" y="82"/>
                </a:cubicBezTo>
              </a:path>
            </a:pathLst>
          </a:custGeom>
          <a:noFill/>
          <a:ln w="9525" cap="flat">
            <a:solidFill>
              <a:srgbClr val="17203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24" name="picture 1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00124" y="3267075"/>
            <a:ext cx="95250" cy="95250"/>
          </a:xfrm>
          <a:prstGeom prst="rect">
            <a:avLst/>
          </a:prstGeom>
        </p:spPr>
      </p:pic>
      <p:sp>
        <p:nvSpPr>
          <p:cNvPr id="126" name="textbox 126"/>
          <p:cNvSpPr/>
          <p:nvPr/>
        </p:nvSpPr>
        <p:spPr>
          <a:xfrm>
            <a:off x="288823" y="6402883"/>
            <a:ext cx="11630660" cy="241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9000"/>
              </a:lnSpc>
            </a:pPr>
            <a:r>
              <a:rPr sz="1300" kern="0" spc="6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Fight the la</a:t>
            </a:r>
            <a:r>
              <a:rPr sz="1300" kern="0" spc="5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ndlord</a:t>
            </a:r>
            <a:r>
              <a:rPr sz="1300" kern="0" spc="1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          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                                                                                                                                                                                                             </a:t>
            </a:r>
            <a:r>
              <a:rPr sz="1800" kern="0" spc="50" dirty="0">
                <a:solidFill>
                  <a:srgbClr val="777777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10</a:t>
            </a:r>
            <a:endParaRPr sz="18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128" name="textbox 128"/>
          <p:cNvSpPr/>
          <p:nvPr/>
        </p:nvSpPr>
        <p:spPr>
          <a:xfrm>
            <a:off x="280936" y="249066"/>
            <a:ext cx="1663065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CS</a:t>
            </a:r>
            <a:r>
              <a:rPr sz="1300" kern="0" spc="16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181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AI</a:t>
            </a:r>
            <a:r>
              <a:rPr sz="1300" kern="0" spc="14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Final</a:t>
            </a:r>
            <a:r>
              <a:rPr sz="1300" kern="0" spc="13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Project</a:t>
            </a:r>
            <a:endParaRPr sz="13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box 130"/>
          <p:cNvSpPr/>
          <p:nvPr/>
        </p:nvSpPr>
        <p:spPr>
          <a:xfrm>
            <a:off x="715242" y="1539643"/>
            <a:ext cx="6661785" cy="3895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9845" algn="l" rtl="0" eaLnBrk="0">
              <a:lnSpc>
                <a:spcPct val="84000"/>
              </a:lnSpc>
            </a:pPr>
            <a:r>
              <a:rPr sz="3600" b="1" kern="0" spc="80" dirty="0">
                <a:solidFill>
                  <a:srgbClr val="1F618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Implementmethods</a:t>
            </a:r>
            <a:endParaRPr sz="3600" dirty="0">
              <a:latin typeface="Trebuchet MS" panose="020B0703020202090204"/>
              <a:ea typeface="Trebuchet MS" panose="020B0703020202090204"/>
              <a:cs typeface="Trebuchet MS" panose="020B0703020202090204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  <a:spcBef>
                <a:spcPts val="690"/>
              </a:spcBef>
            </a:pPr>
            <a:r>
              <a:rPr sz="2300" b="1" kern="0" spc="110" dirty="0">
                <a:solidFill>
                  <a:srgbClr val="27496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5.</a:t>
            </a:r>
            <a:r>
              <a:rPr sz="2300" kern="0" spc="110" dirty="0">
                <a:solidFill>
                  <a:srgbClr val="27496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300" b="1" kern="0" spc="0" dirty="0">
                <a:solidFill>
                  <a:srgbClr val="27496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Reinforcement</a:t>
            </a:r>
            <a:r>
              <a:rPr sz="2300" kern="0" spc="160" dirty="0">
                <a:solidFill>
                  <a:srgbClr val="27496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300" b="1" kern="0" spc="0" dirty="0">
                <a:solidFill>
                  <a:srgbClr val="27496D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Learning</a:t>
            </a:r>
            <a:endParaRPr sz="2300" dirty="0">
              <a:latin typeface="Trebuchet MS" panose="020B0703020202090204"/>
              <a:ea typeface="Trebuchet MS" panose="020B0703020202090204"/>
              <a:cs typeface="Trebuchet MS" panose="020B0703020202090204"/>
            </a:endParaRPr>
          </a:p>
          <a:p>
            <a:pPr marL="379730" algn="l" rtl="0" eaLnBrk="0">
              <a:lnSpc>
                <a:spcPct val="85000"/>
              </a:lnSpc>
              <a:spcBef>
                <a:spcPts val="1705"/>
              </a:spcBef>
              <a:tabLst>
                <a:tab pos="553085" algn="l"/>
              </a:tabLst>
            </a:pP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	</a:t>
            </a:r>
            <a:r>
              <a:rPr sz="2100" b="1" kern="0" spc="28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Q-</a:t>
            </a:r>
            <a:r>
              <a:rPr sz="2100" b="1" kern="0" spc="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Learning</a:t>
            </a:r>
            <a:endParaRPr sz="2100" dirty="0">
              <a:latin typeface="Trebuchet MS" panose="020B0703020202090204"/>
              <a:ea typeface="Trebuchet MS" panose="020B0703020202090204"/>
              <a:cs typeface="Trebuchet MS" panose="020B0703020202090204"/>
            </a:endParaRPr>
          </a:p>
          <a:p>
            <a:pPr marL="937260" algn="l" rtl="0" eaLnBrk="0">
              <a:lnSpc>
                <a:spcPct val="87000"/>
              </a:lnSpc>
              <a:spcBef>
                <a:spcPts val="995"/>
              </a:spcBef>
              <a:tabLst>
                <a:tab pos="1119505" algn="l"/>
              </a:tabLst>
            </a:pP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	</a:t>
            </a:r>
            <a:r>
              <a:rPr sz="2100" kern="0" spc="11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Learn action val</a:t>
            </a:r>
            <a:r>
              <a:rPr sz="2100" kern="0" spc="1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ues through self-play.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marL="379730" algn="l" rtl="0" eaLnBrk="0">
              <a:lnSpc>
                <a:spcPct val="85000"/>
              </a:lnSpc>
              <a:spcBef>
                <a:spcPts val="1500"/>
              </a:spcBef>
              <a:tabLst>
                <a:tab pos="551815" algn="l"/>
              </a:tabLst>
            </a:pP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	</a:t>
            </a:r>
            <a:r>
              <a:rPr sz="2100" b="1" kern="0" spc="4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ε-</a:t>
            </a:r>
            <a:r>
              <a:rPr sz="2100" b="1" kern="0" spc="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Greedy</a:t>
            </a:r>
            <a:r>
              <a:rPr sz="2100" kern="0" spc="14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b="1" kern="0" spc="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Policy</a:t>
            </a:r>
            <a:endParaRPr sz="2100" dirty="0">
              <a:latin typeface="Trebuchet MS" panose="020B0703020202090204"/>
              <a:ea typeface="Trebuchet MS" panose="020B0703020202090204"/>
              <a:cs typeface="Trebuchet MS" panose="020B0703020202090204"/>
            </a:endParaRPr>
          </a:p>
          <a:p>
            <a:pPr marL="284480" indent="652145" algn="l" rtl="0" eaLnBrk="0">
              <a:lnSpc>
                <a:spcPct val="107000"/>
              </a:lnSpc>
              <a:spcBef>
                <a:spcPts val="1010"/>
              </a:spcBef>
              <a:tabLst>
                <a:tab pos="1119505" algn="l"/>
              </a:tabLst>
            </a:pP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	</a:t>
            </a:r>
            <a:r>
              <a:rPr sz="2100" kern="0" spc="1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Balance explora</a:t>
            </a:r>
            <a:r>
              <a:rPr sz="2100" kern="0" spc="9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tion and exploitation.</a:t>
            </a: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             </a:t>
            </a:r>
            <a:r>
              <a:rPr sz="2100" kern="0" spc="-1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2600" kern="0" spc="3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r>
              <a:rPr sz="2600" kern="0" spc="10" dirty="0">
                <a:solidFill>
                  <a:srgbClr val="172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</a:t>
            </a:r>
            <a:r>
              <a:rPr sz="2100" b="1" kern="0" spc="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Policy</a:t>
            </a:r>
            <a:r>
              <a:rPr sz="2100" kern="0" spc="3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2100" b="1" kern="0" spc="0" dirty="0">
                <a:solidFill>
                  <a:srgbClr val="172033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Search</a:t>
            </a:r>
            <a:endParaRPr sz="2100" dirty="0">
              <a:latin typeface="Trebuchet MS" panose="020B0703020202090204"/>
              <a:ea typeface="Trebuchet MS" panose="020B0703020202090204"/>
              <a:cs typeface="Trebuchet MS" panose="020B0703020202090204"/>
            </a:endParaRPr>
          </a:p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937260" algn="l" rtl="0" eaLnBrk="0">
              <a:lnSpc>
                <a:spcPct val="87000"/>
              </a:lnSpc>
              <a:spcBef>
                <a:spcPts val="5"/>
              </a:spcBef>
              <a:tabLst>
                <a:tab pos="1119505" algn="l"/>
              </a:tabLst>
            </a:pPr>
            <a:r>
              <a:rPr sz="2100" kern="0" spc="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	</a:t>
            </a:r>
            <a:r>
              <a:rPr sz="2100" kern="0" spc="11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Directly optim</a:t>
            </a:r>
            <a:r>
              <a:rPr sz="2100" kern="0" spc="100" dirty="0">
                <a:solidFill>
                  <a:srgbClr val="172033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ize the agent's playing strategy.</a:t>
            </a:r>
            <a:endParaRPr sz="21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132" name="path 132"/>
          <p:cNvSpPr/>
          <p:nvPr/>
        </p:nvSpPr>
        <p:spPr>
          <a:xfrm>
            <a:off x="1547812" y="5205412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65" h="165">
                <a:moveTo>
                  <a:pt x="157" y="82"/>
                </a:moveTo>
                <a:cubicBezTo>
                  <a:pt x="157" y="92"/>
                  <a:pt x="155" y="102"/>
                  <a:pt x="151" y="111"/>
                </a:cubicBezTo>
                <a:cubicBezTo>
                  <a:pt x="147" y="120"/>
                  <a:pt x="142" y="128"/>
                  <a:pt x="135" y="135"/>
                </a:cubicBezTo>
                <a:cubicBezTo>
                  <a:pt x="128" y="142"/>
                  <a:pt x="120" y="147"/>
                  <a:pt x="111" y="151"/>
                </a:cubicBezTo>
                <a:cubicBezTo>
                  <a:pt x="102" y="155"/>
                  <a:pt x="92" y="157"/>
                  <a:pt x="82" y="157"/>
                </a:cubicBezTo>
                <a:cubicBezTo>
                  <a:pt x="72" y="157"/>
                  <a:pt x="62" y="155"/>
                  <a:pt x="53" y="151"/>
                </a:cubicBezTo>
                <a:cubicBezTo>
                  <a:pt x="44" y="147"/>
                  <a:pt x="36" y="142"/>
                  <a:pt x="29" y="135"/>
                </a:cubicBezTo>
                <a:cubicBezTo>
                  <a:pt x="22" y="128"/>
                  <a:pt x="17" y="120"/>
                  <a:pt x="13" y="111"/>
                </a:cubicBezTo>
                <a:cubicBezTo>
                  <a:pt x="9" y="102"/>
                  <a:pt x="7" y="92"/>
                  <a:pt x="7" y="82"/>
                </a:cubicBezTo>
                <a:cubicBezTo>
                  <a:pt x="7" y="72"/>
                  <a:pt x="9" y="62"/>
                  <a:pt x="13" y="53"/>
                </a:cubicBezTo>
                <a:cubicBezTo>
                  <a:pt x="17" y="44"/>
                  <a:pt x="22" y="36"/>
                  <a:pt x="29" y="29"/>
                </a:cubicBezTo>
                <a:cubicBezTo>
                  <a:pt x="36" y="22"/>
                  <a:pt x="44" y="17"/>
                  <a:pt x="53" y="13"/>
                </a:cubicBezTo>
                <a:cubicBezTo>
                  <a:pt x="62" y="9"/>
                  <a:pt x="72" y="7"/>
                  <a:pt x="82" y="7"/>
                </a:cubicBezTo>
                <a:cubicBezTo>
                  <a:pt x="92" y="7"/>
                  <a:pt x="102" y="9"/>
                  <a:pt x="111" y="13"/>
                </a:cubicBezTo>
                <a:cubicBezTo>
                  <a:pt x="120" y="17"/>
                  <a:pt x="128" y="22"/>
                  <a:pt x="135" y="29"/>
                </a:cubicBezTo>
                <a:cubicBezTo>
                  <a:pt x="142" y="36"/>
                  <a:pt x="147" y="44"/>
                  <a:pt x="151" y="53"/>
                </a:cubicBezTo>
                <a:cubicBezTo>
                  <a:pt x="155" y="62"/>
                  <a:pt x="157" y="72"/>
                  <a:pt x="157" y="82"/>
                </a:cubicBezTo>
              </a:path>
            </a:pathLst>
          </a:custGeom>
          <a:noFill/>
          <a:ln w="9525" cap="flat">
            <a:solidFill>
              <a:srgbClr val="17203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4" name="path 134"/>
          <p:cNvSpPr/>
          <p:nvPr/>
        </p:nvSpPr>
        <p:spPr>
          <a:xfrm>
            <a:off x="1547812" y="4329112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65" h="165">
                <a:moveTo>
                  <a:pt x="157" y="82"/>
                </a:moveTo>
                <a:cubicBezTo>
                  <a:pt x="157" y="92"/>
                  <a:pt x="155" y="102"/>
                  <a:pt x="151" y="111"/>
                </a:cubicBezTo>
                <a:cubicBezTo>
                  <a:pt x="147" y="120"/>
                  <a:pt x="142" y="128"/>
                  <a:pt x="135" y="135"/>
                </a:cubicBezTo>
                <a:cubicBezTo>
                  <a:pt x="128" y="142"/>
                  <a:pt x="120" y="147"/>
                  <a:pt x="111" y="151"/>
                </a:cubicBezTo>
                <a:cubicBezTo>
                  <a:pt x="102" y="155"/>
                  <a:pt x="92" y="157"/>
                  <a:pt x="82" y="157"/>
                </a:cubicBezTo>
                <a:cubicBezTo>
                  <a:pt x="72" y="157"/>
                  <a:pt x="62" y="155"/>
                  <a:pt x="53" y="151"/>
                </a:cubicBezTo>
                <a:cubicBezTo>
                  <a:pt x="44" y="147"/>
                  <a:pt x="36" y="142"/>
                  <a:pt x="29" y="135"/>
                </a:cubicBezTo>
                <a:cubicBezTo>
                  <a:pt x="22" y="128"/>
                  <a:pt x="17" y="120"/>
                  <a:pt x="13" y="111"/>
                </a:cubicBezTo>
                <a:cubicBezTo>
                  <a:pt x="9" y="102"/>
                  <a:pt x="7" y="92"/>
                  <a:pt x="7" y="82"/>
                </a:cubicBezTo>
                <a:cubicBezTo>
                  <a:pt x="7" y="72"/>
                  <a:pt x="9" y="62"/>
                  <a:pt x="13" y="53"/>
                </a:cubicBezTo>
                <a:cubicBezTo>
                  <a:pt x="17" y="44"/>
                  <a:pt x="22" y="36"/>
                  <a:pt x="29" y="29"/>
                </a:cubicBezTo>
                <a:cubicBezTo>
                  <a:pt x="36" y="22"/>
                  <a:pt x="44" y="17"/>
                  <a:pt x="53" y="13"/>
                </a:cubicBezTo>
                <a:cubicBezTo>
                  <a:pt x="62" y="9"/>
                  <a:pt x="72" y="7"/>
                  <a:pt x="82" y="7"/>
                </a:cubicBezTo>
                <a:cubicBezTo>
                  <a:pt x="92" y="7"/>
                  <a:pt x="102" y="9"/>
                  <a:pt x="111" y="13"/>
                </a:cubicBezTo>
                <a:cubicBezTo>
                  <a:pt x="120" y="17"/>
                  <a:pt x="128" y="22"/>
                  <a:pt x="135" y="29"/>
                </a:cubicBezTo>
                <a:cubicBezTo>
                  <a:pt x="142" y="36"/>
                  <a:pt x="147" y="44"/>
                  <a:pt x="151" y="53"/>
                </a:cubicBezTo>
                <a:cubicBezTo>
                  <a:pt x="155" y="62"/>
                  <a:pt x="157" y="72"/>
                  <a:pt x="157" y="82"/>
                </a:cubicBezTo>
              </a:path>
            </a:pathLst>
          </a:custGeom>
          <a:noFill/>
          <a:ln w="9525" cap="flat">
            <a:solidFill>
              <a:srgbClr val="17203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36" name="picture 1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00124" y="3933825"/>
            <a:ext cx="95250" cy="95250"/>
          </a:xfrm>
          <a:prstGeom prst="rect">
            <a:avLst/>
          </a:prstGeom>
        </p:spPr>
      </p:pic>
      <p:sp>
        <p:nvSpPr>
          <p:cNvPr id="138" name="path 138"/>
          <p:cNvSpPr/>
          <p:nvPr/>
        </p:nvSpPr>
        <p:spPr>
          <a:xfrm>
            <a:off x="1547812" y="3462337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65" h="165">
                <a:moveTo>
                  <a:pt x="157" y="82"/>
                </a:moveTo>
                <a:cubicBezTo>
                  <a:pt x="157" y="92"/>
                  <a:pt x="155" y="102"/>
                  <a:pt x="151" y="111"/>
                </a:cubicBezTo>
                <a:cubicBezTo>
                  <a:pt x="147" y="120"/>
                  <a:pt x="142" y="128"/>
                  <a:pt x="135" y="135"/>
                </a:cubicBezTo>
                <a:cubicBezTo>
                  <a:pt x="128" y="142"/>
                  <a:pt x="120" y="147"/>
                  <a:pt x="111" y="151"/>
                </a:cubicBezTo>
                <a:cubicBezTo>
                  <a:pt x="102" y="155"/>
                  <a:pt x="92" y="157"/>
                  <a:pt x="82" y="157"/>
                </a:cubicBezTo>
                <a:cubicBezTo>
                  <a:pt x="72" y="157"/>
                  <a:pt x="62" y="155"/>
                  <a:pt x="53" y="151"/>
                </a:cubicBezTo>
                <a:cubicBezTo>
                  <a:pt x="44" y="147"/>
                  <a:pt x="36" y="142"/>
                  <a:pt x="29" y="135"/>
                </a:cubicBezTo>
                <a:cubicBezTo>
                  <a:pt x="22" y="128"/>
                  <a:pt x="17" y="120"/>
                  <a:pt x="13" y="111"/>
                </a:cubicBezTo>
                <a:cubicBezTo>
                  <a:pt x="9" y="102"/>
                  <a:pt x="7" y="92"/>
                  <a:pt x="7" y="82"/>
                </a:cubicBezTo>
                <a:cubicBezTo>
                  <a:pt x="7" y="72"/>
                  <a:pt x="9" y="62"/>
                  <a:pt x="13" y="53"/>
                </a:cubicBezTo>
                <a:cubicBezTo>
                  <a:pt x="17" y="44"/>
                  <a:pt x="22" y="36"/>
                  <a:pt x="29" y="29"/>
                </a:cubicBezTo>
                <a:cubicBezTo>
                  <a:pt x="36" y="22"/>
                  <a:pt x="44" y="17"/>
                  <a:pt x="53" y="13"/>
                </a:cubicBezTo>
                <a:cubicBezTo>
                  <a:pt x="62" y="9"/>
                  <a:pt x="72" y="7"/>
                  <a:pt x="82" y="7"/>
                </a:cubicBezTo>
                <a:cubicBezTo>
                  <a:pt x="92" y="7"/>
                  <a:pt x="102" y="9"/>
                  <a:pt x="111" y="13"/>
                </a:cubicBezTo>
                <a:cubicBezTo>
                  <a:pt x="120" y="17"/>
                  <a:pt x="128" y="22"/>
                  <a:pt x="135" y="29"/>
                </a:cubicBezTo>
                <a:cubicBezTo>
                  <a:pt x="142" y="36"/>
                  <a:pt x="147" y="44"/>
                  <a:pt x="151" y="53"/>
                </a:cubicBezTo>
                <a:cubicBezTo>
                  <a:pt x="155" y="62"/>
                  <a:pt x="157" y="72"/>
                  <a:pt x="157" y="82"/>
                </a:cubicBezTo>
              </a:path>
            </a:pathLst>
          </a:custGeom>
          <a:noFill/>
          <a:ln w="9525" cap="flat">
            <a:solidFill>
              <a:srgbClr val="17203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40" name="picture 1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00124" y="3067050"/>
            <a:ext cx="95250" cy="95250"/>
          </a:xfrm>
          <a:prstGeom prst="rect">
            <a:avLst/>
          </a:prstGeom>
        </p:spPr>
      </p:pic>
      <p:sp>
        <p:nvSpPr>
          <p:cNvPr id="142" name="textbox 142"/>
          <p:cNvSpPr/>
          <p:nvPr/>
        </p:nvSpPr>
        <p:spPr>
          <a:xfrm>
            <a:off x="288823" y="6402883"/>
            <a:ext cx="11630660" cy="241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9000"/>
              </a:lnSpc>
            </a:pPr>
            <a:r>
              <a:rPr sz="1300" kern="0" spc="6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Fight the la</a:t>
            </a:r>
            <a:r>
              <a:rPr sz="1300" kern="0" spc="5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ndlord</a:t>
            </a:r>
            <a:r>
              <a:rPr sz="1300" kern="0" spc="1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          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                                                                                                                                                                                                             </a:t>
            </a:r>
            <a:r>
              <a:rPr sz="1800" kern="0" spc="50" dirty="0">
                <a:solidFill>
                  <a:srgbClr val="777777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11</a:t>
            </a:r>
            <a:endParaRPr sz="18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144" name="textbox 144"/>
          <p:cNvSpPr/>
          <p:nvPr/>
        </p:nvSpPr>
        <p:spPr>
          <a:xfrm>
            <a:off x="280936" y="249066"/>
            <a:ext cx="1663065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CS</a:t>
            </a:r>
            <a:r>
              <a:rPr sz="1300" kern="0" spc="16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181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AI</a:t>
            </a:r>
            <a:r>
              <a:rPr sz="1300" kern="0" spc="14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Final</a:t>
            </a:r>
            <a:r>
              <a:rPr sz="1300" kern="0" spc="13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Project</a:t>
            </a:r>
            <a:endParaRPr sz="13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picture 1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5000625" y="1524000"/>
            <a:ext cx="2190750" cy="2190750"/>
          </a:xfrm>
          <a:prstGeom prst="rect">
            <a:avLst/>
          </a:prstGeom>
        </p:spPr>
      </p:pic>
      <p:sp>
        <p:nvSpPr>
          <p:cNvPr id="148" name="textbox 148"/>
          <p:cNvSpPr/>
          <p:nvPr/>
        </p:nvSpPr>
        <p:spPr>
          <a:xfrm>
            <a:off x="288823" y="6402883"/>
            <a:ext cx="11630660" cy="241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9000"/>
              </a:lnSpc>
            </a:pPr>
            <a:r>
              <a:rPr sz="1300" kern="0" spc="6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Fight the la</a:t>
            </a:r>
            <a:r>
              <a:rPr sz="1300" kern="0" spc="5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ndlord</a:t>
            </a:r>
            <a:r>
              <a:rPr sz="1300" kern="0" spc="1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          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                                                                                                                                                                                                             </a:t>
            </a:r>
            <a:r>
              <a:rPr sz="1800" kern="0" spc="50" dirty="0">
                <a:solidFill>
                  <a:srgbClr val="777777">
                    <a:alpha val="100000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12</a:t>
            </a:r>
            <a:endParaRPr sz="18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150" name="textbox 150"/>
          <p:cNvSpPr/>
          <p:nvPr/>
        </p:nvSpPr>
        <p:spPr>
          <a:xfrm>
            <a:off x="4692177" y="4360943"/>
            <a:ext cx="2818130" cy="6108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3000"/>
              </a:lnSpc>
            </a:pPr>
            <a:r>
              <a:rPr sz="4600" b="1" kern="0" spc="80" dirty="0">
                <a:solidFill>
                  <a:srgbClr val="12385F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Thank</a:t>
            </a:r>
            <a:r>
              <a:rPr sz="4600" kern="0" spc="80" dirty="0">
                <a:solidFill>
                  <a:srgbClr val="12385F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 </a:t>
            </a:r>
            <a:r>
              <a:rPr sz="4600" b="1" kern="0" spc="80" dirty="0">
                <a:solidFill>
                  <a:srgbClr val="12385F">
                    <a:alpha val="100000"/>
                  </a:srgbClr>
                </a:solidFill>
                <a:latin typeface="Trebuchet MS" panose="020B0703020202090204"/>
                <a:ea typeface="Trebuchet MS" panose="020B0703020202090204"/>
                <a:cs typeface="Trebuchet MS" panose="020B0703020202090204"/>
              </a:rPr>
              <a:t>you</a:t>
            </a:r>
            <a:endParaRPr sz="4600" dirty="0">
              <a:latin typeface="Trebuchet MS" panose="020B0703020202090204"/>
              <a:ea typeface="Trebuchet MS" panose="020B0703020202090204"/>
              <a:cs typeface="Trebuchet MS" panose="020B0703020202090204"/>
            </a:endParaRPr>
          </a:p>
        </p:txBody>
      </p:sp>
      <p:sp>
        <p:nvSpPr>
          <p:cNvPr id="152" name="textbox 152"/>
          <p:cNvSpPr/>
          <p:nvPr/>
        </p:nvSpPr>
        <p:spPr>
          <a:xfrm>
            <a:off x="280936" y="249066"/>
            <a:ext cx="1663065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CS</a:t>
            </a:r>
            <a:r>
              <a:rPr sz="1300" kern="0" spc="16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181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AI</a:t>
            </a:r>
            <a:r>
              <a:rPr sz="1300" kern="0" spc="14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Final</a:t>
            </a:r>
            <a:r>
              <a:rPr sz="1300" kern="0" spc="13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 </a:t>
            </a:r>
            <a:r>
              <a:rPr sz="1300" kern="0" spc="0" dirty="0">
                <a:solidFill>
                  <a:srgbClr val="666666">
                    <a:alpha val="74901"/>
                  </a:srgbClr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Project</a:t>
            </a:r>
            <a:endParaRPr sz="1300" dirty="0"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6256</Words>
  <Application>WPS 文字</Application>
  <PresentationFormat/>
  <Paragraphs>197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9" baseType="lpstr">
      <vt:lpstr>Arial</vt:lpstr>
      <vt:lpstr>宋体</vt:lpstr>
      <vt:lpstr>Wingdings</vt:lpstr>
      <vt:lpstr>Arial</vt:lpstr>
      <vt:lpstr>Trebuchet MS</vt:lpstr>
      <vt:lpstr>Gill Sans</vt:lpstr>
      <vt:lpstr>PingFang SC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Gill Sans</vt:lpstr>
      <vt:lpstr>Trebuchet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Fight the landlord</dc:title>
  <dc:creator/>
  <cp:lastModifiedBy>林子修</cp:lastModifiedBy>
  <cp:revision>1</cp:revision>
  <dcterms:created xsi:type="dcterms:W3CDTF">2026-05-16T04:32:12Z</dcterms:created>
  <dcterms:modified xsi:type="dcterms:W3CDTF">2026-05-16T04:32:12Z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wqlLaW5nc29mdCBQREYgdG8gV1BTIDExNQ</vt:lpwstr>
  </property>
  <property fmtid="{D5CDD505-2E9C-101B-9397-08002B2CF9AE}" pid="3" name="Created">
    <vt:filetime>2026-05-16T12:31:52Z</vt:filetime>
  </property>
  <property fmtid="{D5CDD505-2E9C-101B-9397-08002B2CF9AE}" pid="4" name="ICV">
    <vt:lpwstr>FB8CA128729B598F4CF3076A5106CC9A_43</vt:lpwstr>
  </property>
  <property fmtid="{D5CDD505-2E9C-101B-9397-08002B2CF9AE}" pid="5" name="KSOProductBuildVer">
    <vt:lpwstr>2052-12.1.25205.25205</vt:lpwstr>
  </property>
</Properties>
</file>